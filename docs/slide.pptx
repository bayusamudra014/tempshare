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this session we build TempShare, a small web app for sharing files temporarily. The browser uploads straight to S3 with a presigned URL, the recipient needs a link plus a secret code, and every upload disappears within a day. Budget about 3 hours: roughly 2h15 of hands-on parts plus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TempShare in one sentence: upload a file, get a link and a code, the recipient downloads it, and it is gone within a day. Point out the two credentials (link and code) and the two time limits: 60 seconds for the download URL, 24 hours for the link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idea of the whole practicum. A presigned URL is a normal S3 URL with a signature in the query string: whoever holds it can do exactly one operation, on one object, until it expires. The backend never sees file bytes; it only decides who gets a URL.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objectives. Objective 4 is the one students usually miss: the lifecycle rule is not a precise timer. Come back to it on the expiry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parts add up to about 2 hours 15 minutes; the remaining time is for the security discussion and starting the exercises. Make sure everyone has AWS access before Part 1: creating the IAM user is where most delays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four steps. Emphasise step 3: the bytes go from the browser to S3 directly. The backend only signs a URL in step 2, and because ContentType and ContentLength are part of the signature, S3 rejects a PUT that differs from what was requested.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of checks in step 3: the record exists (404), it has not expired (410), it is not locked after 5 wrong codes (429), the code is correct (403), and HeadObject confirms the upload really finished (404 "File is not available"). Only then is a 60-second GET URL signed.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Together the two layers give a strict 24-hour access window and guaranteed cleanup shortly after. Discussion question to ask the room: what happens if the backend restarts and loses its in-memory records? (Every link becomes "not found" even though the files are still in S3. That is Exercise 1: move the records to DynamoDB with a TTL attribute.)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PUT is needed in CORS: the download is a plain navigation (window.location), not a fetch, so it is not subject to CORS. If students see a CORS error on upload, the origin or the PUT method is missing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lifecycle rule is scoped to the uploads/ prefix, and the IAM policy is scoped to the same prefix. That is why server.js always builds keys as uploads/&lt;id&gt;/&lt;name&gt;: a key outside that prefix would be neither allowed nor cleaned up. CLI: aws s3api put-bucket-lifecycle-configuration --bucket tempshare-demo-12345 --lifecycle-configuration file://lifecycle.json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everyone run the sts check before moving on; it catches a wrong key pair now rather than as a confusing error in Part 5. Remind the class that .gitignore already excludes .env, and that leaked credentials cost marks (5% of the grade).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Dependency versions from the guide: @aws-sdk/client-s3 ^3.600.0, @aws-sdk/s3-request-presigner ^3.600.0, dotenv ^16.4.5, express ^4.19.2. The .gitignore contains .env and node_modules. The example keys AKIAIOSFODNN7EXAMPLE / wJalrXUtnFEMI/K7MDENG/bPxRfiCYEXAMPLEKEY belong to no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Records live in an in-memory Map (id → key, filename, size, salt, codeHash, expiresAt, failedAttempts), cleaned every 10 minutes. Keys are always uploads/&lt;id&gt;/&lt;safeName&gt; so they stay under the lifecycle prefix; the filename is sanitised with path.basename and a character allowlist. The S3 client sets requestChecksumCalculation: 'WHEN_REQUIRED' so newer SDKs don't add checksum parameters that break browser uploads.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helpers in server.js: generateCode, hashCode, codeMatches. The plain code is returned to the uploader exactly once and never stored. Note that the 429 check happens before the code check, so even the right code is refused once a link is locked.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hints for the instructor. 1: a counter makes links enumerable; 9 random bytes give 72 bits, so guessing a valid ID is impractical. 2: if the record store leaks, hashed codes are useless without brute-forcing scrypt per salt; timingSafeEqual stops an attacker learning from response timing. 3: it stops online brute force on one link, but an attacker can lock out legitimate recipients (denial of service), and it does nothing against one client trying many links: that needs per-IP rate limiting (Exercise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pages are plain HTML with a small inline script, served by express.static; /s/:id returns share.html. The upload page tells the user to send the link and the code separately, and that the code is shown only once. A missing file.type falls back to application/octet-stream on both sides.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 1 to 3 prove the happy path; 4 to 8 prove the controls. For test 8, remind students to restore TTL_MS to 24 hours afterwards. Test 6 shows that a presigned URL really is time-limited by S3 itself, not by our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up while students run the checklist. The most common one in practice is SignatureDoesNotMatch: the browser sent a different Content-Type than the one in the signed request, often because file.type was empty on one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hints. 1: 32^8 = 1,099,511,627,776 (about 1.1 × 10^12) codes; 5 guesses per link succeed with probability about 4.5 × 10^-12. 2: intercepting one channel (say, a forwarded email) is not enough to download. 3: free anonymous storage, malware or illegal content hosting, cost and quota exhaustion; add auth, per-IP rate limits, type allowlist, scanning. 4: fine for casual sharing since the code holder could share the file anyway; not acceptable when every download must be attributable or limited to one person. 5: lifecycle runs at day boundaries and deletes asynchronously, so objects can survive up to about 48 hours; only the backend expiresAt check gives an exact cut-off.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1 fixes the restart problem from the expiry slide: with DynamoDB, two backend instances share the same records and failedAttempts counter, which an in-memory Map cannot do. The type allowlist in Exercise 3 must be validated on the server, not just in the file picker.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Grading is the suggested split from the guide; adjust to your course. End by having students do the clean-up steps once they have their screenshots and report, especially deleting the access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4202B"/>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99841"/>
            <a:ext cx="10566400" cy="4145359"/>
          </a:xfrm>
          <a:prstGeom prst="rect">
            <a:avLst/>
          </a:prstGeom>
          <a:noFill/>
          <a:ln/>
        </p:spPr>
        <p:txBody>
          <a:bodyPr wrap="square" lIns="0" tIns="0" rIns="0" bIns="0" rtlCol="0" anchor="t"/>
          <a:lstStyle>
            <a:lvl1pPr algn="l" indent="0" marL="0">
              <a:lnSpc>
                <a:spcPct val="140000"/>
              </a:lnSpc>
              <a:buNone/>
              <a:defRPr lang="en-US" sz="1600" dirty="0">
                <a:solidFill>
                  <a:srgbClr val="1420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4202B"/>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99841"/>
            <a:ext cx="10566400" cy="4145359"/>
          </a:xfrm>
          <a:prstGeom prst="rect">
            <a:avLst/>
          </a:prstGeom>
          <a:noFill/>
          <a:ln/>
        </p:spPr>
        <p:txBody>
          <a:bodyPr wrap="square" lIns="0" tIns="0" rIns="0" bIns="0" rtlCol="0" anchor="t"/>
          <a:lstStyle>
            <a:lvl1pPr algn="l" indent="0" marL="0">
              <a:lnSpc>
                <a:spcPct val="140000"/>
              </a:lnSpc>
              <a:buNone/>
              <a:defRPr lang="en-US" sz="1600" dirty="0">
                <a:solidFill>
                  <a:srgbClr val="1420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0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A35E"/>
                </a:solidFill>
                <a:latin typeface="IBM Plex Sans" pitchFamily="34" charset="0"/>
                <a:ea typeface="IBM Plex Sans" pitchFamily="34" charset="-122"/>
                <a:cs typeface="IBM Plex Sans" pitchFamily="34" charset="-120"/>
              </a:rPr>
              <a:t>PRACTICUM · AMAZON S3 · NODE.JS / EXPRESS</a:t>
            </a:r>
            <a:endParaRPr lang="en-US" sz="1200" dirty="0"/>
          </a:p>
        </p:txBody>
      </p:sp>
      <p:sp>
        <p:nvSpPr>
          <p:cNvPr id="3" name="Text 1"/>
          <p:cNvSpPr/>
          <p:nvPr>
            <p:ph type="title"/>
          </p:nvPr>
        </p:nvSpPr>
        <p:spPr>
          <a:xfrm>
            <a:off x="812800" y="2420640"/>
            <a:ext cx="10883392" cy="1041400"/>
          </a:xfrm>
          <a:prstGeom prst="rect">
            <a:avLst/>
          </a:prstGeom>
          <a:noFill/>
          <a:ln/>
        </p:spPr>
        <p:txBody>
          <a:bodyPr wrap="square" lIns="0" tIns="0" rIns="0" bIns="0" rtlCol="0" anchor="t">
            <a:normAutofit/>
          </a:bodyPr>
          <a:lstStyle/>
          <a:p>
            <a:pPr algn="l" indent="0" marL="0">
              <a:lnSpc>
                <a:spcPts val="8000"/>
              </a:lnSpc>
              <a:buNone/>
            </a:pPr>
            <a:r>
              <a:rPr lang="en-US" sz="8000" b="1" i="0" spc="-200" kern="0" dirty="0">
                <a:solidFill>
                  <a:srgbClr val="F5F3EE"/>
                </a:solidFill>
                <a:latin typeface="IBM Plex Sans" pitchFamily="34" charset="0"/>
                <a:ea typeface="IBM Plex Sans" pitchFamily="34" charset="-122"/>
                <a:cs typeface="IBM Plex Sans" pitchFamily="34" charset="-120"/>
              </a:rPr>
              <a:t>TempShare</a:t>
            </a:r>
            <a:endParaRPr lang="en-US" sz="8000" dirty="0"/>
          </a:p>
        </p:txBody>
      </p:sp>
      <p:sp>
        <p:nvSpPr>
          <p:cNvPr id="4" name="Text 2"/>
          <p:cNvSpPr/>
          <p:nvPr/>
        </p:nvSpPr>
        <p:spPr>
          <a:xfrm>
            <a:off x="812800" y="3639840"/>
            <a:ext cx="6540500" cy="787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B9C4CE"/>
                </a:solidFill>
                <a:latin typeface="IBM Plex Sans" pitchFamily="34" charset="0"/>
                <a:ea typeface="IBM Plex Sans" pitchFamily="34" charset="-122"/>
                <a:cs typeface="IBM Plex Sans" pitchFamily="34" charset="-120"/>
              </a:rPr>
              <a:t>Temporary file sharing with Amazon S3 presigned URLs</a:t>
            </a:r>
            <a:endParaRPr lang="en-US" sz="2400" dirty="0"/>
          </a:p>
        </p:txBody>
      </p:sp>
      <p:sp>
        <p:nvSpPr>
          <p:cNvPr id="5" name="Text 3"/>
          <p:cNvSpPr/>
          <p:nvPr/>
        </p:nvSpPr>
        <p:spPr>
          <a:xfrm>
            <a:off x="812800" y="57963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4CE"/>
                </a:solidFill>
                <a:latin typeface="IBM Plex Sans" pitchFamily="34" charset="0"/>
                <a:ea typeface="IBM Plex Sans" pitchFamily="34" charset="-122"/>
                <a:cs typeface="IBM Plex Sans" pitchFamily="34" charset="-120"/>
              </a:rPr>
              <a:t>Estimated time · 3 hours</a:t>
            </a:r>
            <a:endParaRPr lang="en-US" sz="1400" dirty="0"/>
          </a:p>
        </p:txBody>
      </p:sp>
      <p:sp>
        <p:nvSpPr>
          <p:cNvPr id="6" name="Shape 4"/>
          <p:cNvSpPr/>
          <p:nvPr/>
        </p:nvSpPr>
        <p:spPr>
          <a:xfrm>
            <a:off x="7835900" y="4937919"/>
            <a:ext cx="0" cy="1107281"/>
          </a:xfrm>
          <a:prstGeom prst="line">
            <a:avLst/>
          </a:prstGeom>
          <a:noFill/>
          <a:ln w="25400">
            <a:solidFill>
              <a:srgbClr val="F0A35E"/>
            </a:solidFill>
            <a:prstDash val="solid"/>
          </a:ln>
        </p:spPr>
      </p:sp>
      <p:sp>
        <p:nvSpPr>
          <p:cNvPr id="7" name="Text 5"/>
          <p:cNvSpPr/>
          <p:nvPr/>
        </p:nvSpPr>
        <p:spPr>
          <a:xfrm>
            <a:off x="8051800" y="4988719"/>
            <a:ext cx="34272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BAA"/>
                </a:solidFill>
                <a:latin typeface="JetBrains Mono" pitchFamily="49" charset="0"/>
                <a:ea typeface="JetBrains Mono" pitchFamily="49" charset="-122"/>
                <a:cs typeface="JetBrains Mono" pitchFamily="49" charset="-120"/>
              </a:rPr>
              <a:t>POST   /api/uploads</a:t>
            </a:r>
            <a:endParaRPr lang="en-US" sz="1200" dirty="0"/>
          </a:p>
        </p:txBody>
      </p:sp>
      <p:sp>
        <p:nvSpPr>
          <p:cNvPr id="8" name="Text 6"/>
          <p:cNvSpPr/>
          <p:nvPr/>
        </p:nvSpPr>
        <p:spPr>
          <a:xfrm>
            <a:off x="8051800" y="5252839"/>
            <a:ext cx="34272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BAA"/>
                </a:solidFill>
                <a:latin typeface="JetBrains Mono" pitchFamily="49" charset="0"/>
                <a:ea typeface="JetBrains Mono" pitchFamily="49" charset="-122"/>
                <a:cs typeface="JetBrains Mono" pitchFamily="49" charset="-120"/>
              </a:rPr>
              <a:t>PUT    uploads/&lt;id&gt;/report.pdf</a:t>
            </a:r>
            <a:endParaRPr lang="en-US" sz="1200" dirty="0"/>
          </a:p>
        </p:txBody>
      </p:sp>
      <p:sp>
        <p:nvSpPr>
          <p:cNvPr id="9" name="Text 7"/>
          <p:cNvSpPr/>
          <p:nvPr/>
        </p:nvSpPr>
        <p:spPr>
          <a:xfrm>
            <a:off x="8051800" y="5516959"/>
            <a:ext cx="34272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BAA"/>
                </a:solidFill>
                <a:latin typeface="JetBrains Mono" pitchFamily="49" charset="0"/>
                <a:ea typeface="JetBrains Mono" pitchFamily="49" charset="-122"/>
                <a:cs typeface="JetBrains Mono" pitchFamily="49" charset="-120"/>
              </a:rPr>
              <a:t>GET    ?X-Amz-Expires=60</a:t>
            </a:r>
            <a:endParaRPr lang="en-US" sz="1200" dirty="0"/>
          </a:p>
        </p:txBody>
      </p:sp>
      <p:sp>
        <p:nvSpPr>
          <p:cNvPr id="10" name="Text 8"/>
          <p:cNvSpPr/>
          <p:nvPr/>
        </p:nvSpPr>
        <p:spPr>
          <a:xfrm>
            <a:off x="8051800" y="5781080"/>
            <a:ext cx="34272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BAA"/>
                </a:solidFill>
                <a:latin typeface="JetBrains Mono" pitchFamily="49" charset="0"/>
                <a:ea typeface="JetBrains Mono" pitchFamily="49" charset="-122"/>
                <a:cs typeface="JetBrains Mono" pitchFamily="49" charset="-120"/>
              </a:rPr>
              <a:t>EXPIRE lifecycle · 1 day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F14"/>
                </a:solidFill>
                <a:latin typeface="IBM Plex Sans" pitchFamily="34" charset="0"/>
                <a:ea typeface="IBM Plex Sans" pitchFamily="34" charset="-122"/>
                <a:cs typeface="IBM Plex Sans" pitchFamily="34" charset="-120"/>
              </a:rPr>
              <a:t>1 · GENERAL DESCRIPTION</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IBM Plex Sans" pitchFamily="34" charset="0"/>
                <a:ea typeface="IBM Plex Sans" pitchFamily="34" charset="-122"/>
                <a:cs typeface="IBM Plex Sans" pitchFamily="34" charset="-120"/>
              </a:rPr>
              <a:t>What we're building</a:t>
            </a:r>
            <a:endParaRPr lang="en-US" sz="3200" dirty="0"/>
          </a:p>
        </p:txBody>
      </p:sp>
      <p:sp>
        <p:nvSpPr>
          <p:cNvPr id="4" name="Shape 2"/>
          <p:cNvSpPr/>
          <p:nvPr/>
        </p:nvSpPr>
        <p:spPr>
          <a:xfrm>
            <a:off x="815975" y="1903016"/>
            <a:ext cx="2482850" cy="2342753"/>
          </a:xfrm>
          <a:prstGeom prst="roundRect">
            <a:avLst>
              <a:gd name="adj" fmla="val 4201"/>
            </a:avLst>
          </a:prstGeom>
          <a:solidFill>
            <a:srgbClr val="FFFDF8"/>
          </a:solidFill>
          <a:ln w="6350">
            <a:solidFill>
              <a:srgbClr val="DDD8CC"/>
            </a:solidFill>
            <a:prstDash val="solid"/>
          </a:ln>
        </p:spPr>
      </p:sp>
      <p:pic>
        <p:nvPicPr>
          <p:cNvPr id="5" name="Image 0" descr="PaperPlane">    </p:cNvPr>
          <p:cNvPicPr>
            <a:picLocks noChangeAspect="1"/>
          </p:cNvPicPr>
          <p:nvPr/>
        </p:nvPicPr>
        <p:blipFill>
          <a:blip r:embed="rId1"/>
          <a:srcRect l="0" r="0" t="0" b="0"/>
          <a:stretch/>
        </p:blipFill>
        <p:spPr>
          <a:xfrm>
            <a:off x="1073150" y="2160191"/>
            <a:ext cx="355600" cy="355600"/>
          </a:xfrm>
          <a:prstGeom prst="rect">
            <a:avLst/>
          </a:prstGeom>
        </p:spPr>
      </p:pic>
      <p:sp>
        <p:nvSpPr>
          <p:cNvPr id="6" name="Text 3"/>
          <p:cNvSpPr/>
          <p:nvPr/>
        </p:nvSpPr>
        <p:spPr>
          <a:xfrm>
            <a:off x="1073150" y="2617391"/>
            <a:ext cx="202755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B"/>
                </a:solidFill>
                <a:latin typeface="IBM Plex Sans" pitchFamily="34" charset="0"/>
                <a:ea typeface="IBM Plex Sans" pitchFamily="34" charset="-122"/>
                <a:cs typeface="IBM Plex Sans" pitchFamily="34" charset="-120"/>
              </a:rPr>
              <a:t>Upload</a:t>
            </a:r>
            <a:endParaRPr lang="en-US" sz="1800" dirty="0"/>
          </a:p>
        </p:txBody>
      </p:sp>
      <p:sp>
        <p:nvSpPr>
          <p:cNvPr id="7" name="Text 4"/>
          <p:cNvSpPr/>
          <p:nvPr/>
        </p:nvSpPr>
        <p:spPr>
          <a:xfrm>
            <a:off x="1073150" y="2993231"/>
            <a:ext cx="2027555"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Pick a file up to 10 MB. The browser sends it straight to S3 with a presigned PUT URL.</a:t>
            </a:r>
            <a:endParaRPr lang="en-US" sz="1400" dirty="0"/>
          </a:p>
        </p:txBody>
      </p:sp>
      <p:sp>
        <p:nvSpPr>
          <p:cNvPr id="8" name="Shape 5"/>
          <p:cNvSpPr/>
          <p:nvPr/>
        </p:nvSpPr>
        <p:spPr>
          <a:xfrm>
            <a:off x="3508375" y="1903016"/>
            <a:ext cx="2482850" cy="2342753"/>
          </a:xfrm>
          <a:prstGeom prst="roundRect">
            <a:avLst>
              <a:gd name="adj" fmla="val 4201"/>
            </a:avLst>
          </a:prstGeom>
          <a:solidFill>
            <a:srgbClr val="FFFDF8"/>
          </a:solidFill>
          <a:ln w="6350">
            <a:solidFill>
              <a:srgbClr val="DDD8CC"/>
            </a:solidFill>
            <a:prstDash val="solid"/>
          </a:ln>
        </p:spPr>
      </p:sp>
      <p:pic>
        <p:nvPicPr>
          <p:cNvPr id="9" name="Image 1" descr="Key">    </p:cNvPr>
          <p:cNvPicPr>
            <a:picLocks noChangeAspect="1"/>
          </p:cNvPicPr>
          <p:nvPr/>
        </p:nvPicPr>
        <p:blipFill>
          <a:blip r:embed="rId2"/>
          <a:srcRect l="0" r="0" t="0" b="0"/>
          <a:stretch/>
        </p:blipFill>
        <p:spPr>
          <a:xfrm>
            <a:off x="3765550" y="2160191"/>
            <a:ext cx="355600" cy="355600"/>
          </a:xfrm>
          <a:prstGeom prst="rect">
            <a:avLst/>
          </a:prstGeom>
        </p:spPr>
      </p:pic>
      <p:sp>
        <p:nvSpPr>
          <p:cNvPr id="10" name="Text 6"/>
          <p:cNvSpPr/>
          <p:nvPr/>
        </p:nvSpPr>
        <p:spPr>
          <a:xfrm>
            <a:off x="3765550" y="2617391"/>
            <a:ext cx="202755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B"/>
                </a:solidFill>
                <a:latin typeface="IBM Plex Sans" pitchFamily="34" charset="0"/>
                <a:ea typeface="IBM Plex Sans" pitchFamily="34" charset="-122"/>
                <a:cs typeface="IBM Plex Sans" pitchFamily="34" charset="-120"/>
              </a:rPr>
              <a:t>Share</a:t>
            </a:r>
            <a:endParaRPr lang="en-US" sz="1800" dirty="0"/>
          </a:p>
        </p:txBody>
      </p:sp>
      <p:sp>
        <p:nvSpPr>
          <p:cNvPr id="11" name="Text 7"/>
          <p:cNvSpPr/>
          <p:nvPr/>
        </p:nvSpPr>
        <p:spPr>
          <a:xfrm>
            <a:off x="3765550" y="2993231"/>
            <a:ext cx="2027555"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The uploader gets a share link and a secret code to send to the recipient.</a:t>
            </a:r>
            <a:endParaRPr lang="en-US" sz="1400" dirty="0"/>
          </a:p>
        </p:txBody>
      </p:sp>
      <p:sp>
        <p:nvSpPr>
          <p:cNvPr id="12" name="Shape 8"/>
          <p:cNvSpPr/>
          <p:nvPr/>
        </p:nvSpPr>
        <p:spPr>
          <a:xfrm>
            <a:off x="6200775" y="1903016"/>
            <a:ext cx="2482850" cy="2342753"/>
          </a:xfrm>
          <a:prstGeom prst="roundRect">
            <a:avLst>
              <a:gd name="adj" fmla="val 4201"/>
            </a:avLst>
          </a:prstGeom>
          <a:solidFill>
            <a:srgbClr val="FFFDF8"/>
          </a:solidFill>
          <a:ln w="6350">
            <a:solidFill>
              <a:srgbClr val="DDD8CC"/>
            </a:solidFill>
            <a:prstDash val="solid"/>
          </a:ln>
        </p:spPr>
      </p:sp>
      <p:pic>
        <p:nvPicPr>
          <p:cNvPr id="13" name="Image 2" descr="Lock">    </p:cNvPr>
          <p:cNvPicPr>
            <a:picLocks noChangeAspect="1"/>
          </p:cNvPicPr>
          <p:nvPr/>
        </p:nvPicPr>
        <p:blipFill>
          <a:blip r:embed="rId3"/>
          <a:srcRect l="0" r="0" t="0" b="0"/>
          <a:stretch/>
        </p:blipFill>
        <p:spPr>
          <a:xfrm>
            <a:off x="6457950" y="2160191"/>
            <a:ext cx="355600" cy="355600"/>
          </a:xfrm>
          <a:prstGeom prst="rect">
            <a:avLst/>
          </a:prstGeom>
        </p:spPr>
      </p:pic>
      <p:sp>
        <p:nvSpPr>
          <p:cNvPr id="14" name="Text 9"/>
          <p:cNvSpPr/>
          <p:nvPr/>
        </p:nvSpPr>
        <p:spPr>
          <a:xfrm>
            <a:off x="6457950" y="2617391"/>
            <a:ext cx="202755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B"/>
                </a:solidFill>
                <a:latin typeface="IBM Plex Sans" pitchFamily="34" charset="0"/>
                <a:ea typeface="IBM Plex Sans" pitchFamily="34" charset="-122"/>
                <a:cs typeface="IBM Plex Sans" pitchFamily="34" charset="-120"/>
              </a:rPr>
              <a:t>Download</a:t>
            </a:r>
            <a:endParaRPr lang="en-US" sz="1800" dirty="0"/>
          </a:p>
        </p:txBody>
      </p:sp>
      <p:sp>
        <p:nvSpPr>
          <p:cNvPr id="15" name="Text 10"/>
          <p:cNvSpPr/>
          <p:nvPr/>
        </p:nvSpPr>
        <p:spPr>
          <a:xfrm>
            <a:off x="6457950" y="2993231"/>
            <a:ext cx="2027555"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Link + correct code: the backend returns a presigned GET URL valid for 60 seconds.</a:t>
            </a:r>
            <a:endParaRPr lang="en-US" sz="1400" dirty="0"/>
          </a:p>
        </p:txBody>
      </p:sp>
      <p:sp>
        <p:nvSpPr>
          <p:cNvPr id="16" name="Shape 11"/>
          <p:cNvSpPr/>
          <p:nvPr/>
        </p:nvSpPr>
        <p:spPr>
          <a:xfrm>
            <a:off x="8893175" y="1903016"/>
            <a:ext cx="2482850" cy="2342753"/>
          </a:xfrm>
          <a:prstGeom prst="roundRect">
            <a:avLst>
              <a:gd name="adj" fmla="val 4201"/>
            </a:avLst>
          </a:prstGeom>
          <a:solidFill>
            <a:srgbClr val="FFFDF8"/>
          </a:solidFill>
          <a:ln w="6350">
            <a:solidFill>
              <a:srgbClr val="DDD8CC"/>
            </a:solidFill>
            <a:prstDash val="solid"/>
          </a:ln>
        </p:spPr>
      </p:sp>
      <p:pic>
        <p:nvPicPr>
          <p:cNvPr id="17" name="Image 3" descr="Clock">    </p:cNvPr>
          <p:cNvPicPr>
            <a:picLocks noChangeAspect="1"/>
          </p:cNvPicPr>
          <p:nvPr/>
        </p:nvPicPr>
        <p:blipFill>
          <a:blip r:embed="rId4"/>
          <a:srcRect l="0" r="0" t="0" b="0"/>
          <a:stretch/>
        </p:blipFill>
        <p:spPr>
          <a:xfrm>
            <a:off x="9150350" y="2160191"/>
            <a:ext cx="355600" cy="355600"/>
          </a:xfrm>
          <a:prstGeom prst="rect">
            <a:avLst/>
          </a:prstGeom>
        </p:spPr>
      </p:pic>
      <p:sp>
        <p:nvSpPr>
          <p:cNvPr id="18" name="Text 12"/>
          <p:cNvSpPr/>
          <p:nvPr/>
        </p:nvSpPr>
        <p:spPr>
          <a:xfrm>
            <a:off x="9150350" y="2617391"/>
            <a:ext cx="202755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B"/>
                </a:solidFill>
                <a:latin typeface="IBM Plex Sans" pitchFamily="34" charset="0"/>
                <a:ea typeface="IBM Plex Sans" pitchFamily="34" charset="-122"/>
                <a:cs typeface="IBM Plex Sans" pitchFamily="34" charset="-120"/>
              </a:rPr>
              <a:t>Expire</a:t>
            </a:r>
            <a:endParaRPr lang="en-US" sz="1800" dirty="0"/>
          </a:p>
        </p:txBody>
      </p:sp>
      <p:sp>
        <p:nvSpPr>
          <p:cNvPr id="19" name="Text 13"/>
          <p:cNvSpPr/>
          <p:nvPr/>
        </p:nvSpPr>
        <p:spPr>
          <a:xfrm>
            <a:off x="9150350" y="2993231"/>
            <a:ext cx="2027555"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Gone within one day: an S3 lifecycle rule plus a 24-hour cut-off in the backend.</a:t>
            </a:r>
            <a:endParaRPr lang="en-US" sz="1400" dirty="0"/>
          </a:p>
        </p:txBody>
      </p:sp>
      <p:sp>
        <p:nvSpPr>
          <p:cNvPr id="20" name="Text 14"/>
          <p:cNvSpPr/>
          <p:nvPr/>
        </p:nvSpPr>
        <p:spPr>
          <a:xfrm>
            <a:off x="812800" y="4553744"/>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02B"/>
                </a:solidFill>
                <a:latin typeface="IBM Plex Sans" pitchFamily="34" charset="0"/>
                <a:ea typeface="IBM Plex Sans" pitchFamily="34" charset="-122"/>
                <a:cs typeface="IBM Plex Sans" pitchFamily="34" charset="-120"/>
              </a:rPr>
              <a:t>The bucket stays </a:t>
            </a:r>
            <a:r>
              <a:rPr lang="en-US" sz="1600" b="1" dirty="0">
                <a:solidFill>
                  <a:srgbClr val="14202B"/>
                </a:solidFill>
                <a:latin typeface="IBM Plex Sans" pitchFamily="34" charset="0"/>
                <a:ea typeface="IBM Plex Sans" pitchFamily="34" charset="-122"/>
                <a:cs typeface="IBM Plex Sans" pitchFamily="34" charset="-120"/>
              </a:rPr>
              <a:t>fully private</a:t>
            </a:r>
            <a:r>
              <a:rPr lang="en-US" sz="1600" dirty="0">
                <a:solidFill>
                  <a:srgbClr val="14202B"/>
                </a:solidFill>
                <a:latin typeface="IBM Plex Sans" pitchFamily="34" charset="0"/>
                <a:ea typeface="IBM Plex Sans" pitchFamily="34" charset="-122"/>
                <a:cs typeface="IBM Plex Sans" pitchFamily="34" charset="-120"/>
              </a:rPr>
              <a:t>. Access is granted per file, for a short time, by a server you control.</a:t>
            </a:r>
            <a:endParaRPr lang="en-US" sz="1600" dirty="0"/>
          </a:p>
        </p:txBody>
      </p:sp>
      <p:sp>
        <p:nvSpPr>
          <p:cNvPr id="21" name="Text 15"/>
          <p:cNvSpPr/>
          <p:nvPr/>
        </p:nvSpPr>
        <p:spPr>
          <a:xfrm>
            <a:off x="812800" y="6238280"/>
            <a:ext cx="34882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TempShare · S3 presigned URLs practicum</a:t>
            </a:r>
            <a:endParaRPr lang="en-US" sz="1200" dirty="0"/>
          </a:p>
        </p:txBody>
      </p:sp>
      <p:sp>
        <p:nvSpPr>
          <p:cNvPr id="22" name="Text 16"/>
          <p:cNvSpPr/>
          <p:nvPr/>
        </p:nvSpPr>
        <p:spPr>
          <a:xfrm>
            <a:off x="11145441" y="62382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20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A35E"/>
                </a:solidFill>
                <a:latin typeface="IBM Plex Sans" pitchFamily="34" charset="0"/>
                <a:ea typeface="IBM Plex Sans" pitchFamily="34" charset="-122"/>
                <a:cs typeface="IBM Plex Sans" pitchFamily="34" charset="-120"/>
              </a:rPr>
              <a:t>WHY THIS DESIGN</a:t>
            </a:r>
            <a:endParaRPr lang="en-US" sz="1200" dirty="0"/>
          </a:p>
        </p:txBody>
      </p:sp>
      <p:sp>
        <p:nvSpPr>
          <p:cNvPr id="3" name="Text 1"/>
          <p:cNvSpPr/>
          <p:nvPr>
            <p:ph type="title"/>
          </p:nvPr>
        </p:nvSpPr>
        <p:spPr>
          <a:xfrm>
            <a:off x="812800" y="1712218"/>
            <a:ext cx="9810750" cy="1366441"/>
          </a:xfrm>
          <a:prstGeom prst="rect">
            <a:avLst/>
          </a:prstGeom>
          <a:noFill/>
          <a:ln/>
        </p:spPr>
        <p:txBody>
          <a:bodyPr wrap="square" lIns="0" tIns="0" rIns="0" bIns="0" rtlCol="0" anchor="t">
            <a:normAutofit/>
          </a:bodyPr>
          <a:lstStyle/>
          <a:p>
            <a:pPr algn="l" indent="0" marL="0">
              <a:lnSpc>
                <a:spcPts val="5280"/>
              </a:lnSpc>
              <a:buNone/>
            </a:pPr>
            <a:r>
              <a:rPr lang="en-US" sz="4800" b="1" i="0" spc="-100" kern="0" dirty="0">
                <a:solidFill>
                  <a:srgbClr val="F5F3EE"/>
                </a:solidFill>
                <a:latin typeface="IBM Plex Sans" pitchFamily="34" charset="0"/>
                <a:ea typeface="IBM Plex Sans" pitchFamily="34" charset="-122"/>
                <a:cs typeface="IBM Plex Sans" pitchFamily="34" charset="-120"/>
              </a:rPr>
              <a:t>The file never passes through your backend.</a:t>
            </a:r>
            <a:endParaRPr lang="en-US" sz="4800" dirty="0"/>
          </a:p>
        </p:txBody>
      </p:sp>
      <p:sp>
        <p:nvSpPr>
          <p:cNvPr id="4" name="Text 2"/>
          <p:cNvSpPr/>
          <p:nvPr/>
        </p:nvSpPr>
        <p:spPr>
          <a:xfrm>
            <a:off x="812800" y="3256459"/>
            <a:ext cx="8829675" cy="985341"/>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9C4CE"/>
                </a:solidFill>
                <a:latin typeface="IBM Plex Sans" pitchFamily="34" charset="0"/>
                <a:ea typeface="IBM Plex Sans" pitchFamily="34" charset="-122"/>
                <a:cs typeface="IBM Plex Sans" pitchFamily="34" charset="-120"/>
              </a:rPr>
              <a:t>Sending large files through your own server wastes bandwidth and CPU. With presigned URLs the backend stays small and stateless about file bytes, while S3 does the heavy lifting.</a:t>
            </a:r>
            <a:endParaRPr lang="en-US" sz="1800" dirty="0"/>
          </a:p>
        </p:txBody>
      </p:sp>
      <p:sp>
        <p:nvSpPr>
          <p:cNvPr id="5" name="Shape 3"/>
          <p:cNvSpPr/>
          <p:nvPr/>
        </p:nvSpPr>
        <p:spPr>
          <a:xfrm>
            <a:off x="812800" y="4915098"/>
            <a:ext cx="3318867" cy="0"/>
          </a:xfrm>
          <a:prstGeom prst="line">
            <a:avLst/>
          </a:prstGeom>
          <a:noFill/>
          <a:ln w="25400">
            <a:solidFill>
              <a:srgbClr val="F0A35E"/>
            </a:solidFill>
            <a:prstDash val="solid"/>
          </a:ln>
        </p:spPr>
      </p:sp>
      <p:sp>
        <p:nvSpPr>
          <p:cNvPr id="6" name="Text 4"/>
          <p:cNvSpPr/>
          <p:nvPr/>
        </p:nvSpPr>
        <p:spPr>
          <a:xfrm>
            <a:off x="812800" y="5080198"/>
            <a:ext cx="341843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A35E"/>
                </a:solidFill>
                <a:latin typeface="IBM Plex Sans" pitchFamily="34" charset="0"/>
                <a:ea typeface="IBM Plex Sans" pitchFamily="34" charset="-122"/>
                <a:cs typeface="IBM Plex Sans" pitchFamily="34" charset="-120"/>
              </a:rPr>
              <a:t>BUCKET</a:t>
            </a:r>
            <a:endParaRPr lang="en-US" sz="1200" dirty="0"/>
          </a:p>
        </p:txBody>
      </p:sp>
      <p:sp>
        <p:nvSpPr>
          <p:cNvPr id="7" name="Text 5"/>
          <p:cNvSpPr/>
          <p:nvPr/>
        </p:nvSpPr>
        <p:spPr>
          <a:xfrm>
            <a:off x="812800" y="5344319"/>
            <a:ext cx="3418433"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5F3EE"/>
                </a:solidFill>
                <a:latin typeface="IBM Plex Sans" pitchFamily="34" charset="0"/>
                <a:ea typeface="IBM Plex Sans" pitchFamily="34" charset="-122"/>
                <a:cs typeface="IBM Plex Sans" pitchFamily="34" charset="-120"/>
              </a:rPr>
              <a:t>Fully private. Block all public access stays on.</a:t>
            </a:r>
            <a:endParaRPr lang="en-US" sz="1400" dirty="0"/>
          </a:p>
        </p:txBody>
      </p:sp>
      <p:sp>
        <p:nvSpPr>
          <p:cNvPr id="8" name="Shape 6"/>
          <p:cNvSpPr/>
          <p:nvPr/>
        </p:nvSpPr>
        <p:spPr>
          <a:xfrm>
            <a:off x="4436467" y="4915098"/>
            <a:ext cx="3318966" cy="0"/>
          </a:xfrm>
          <a:prstGeom prst="line">
            <a:avLst/>
          </a:prstGeom>
          <a:noFill/>
          <a:ln w="25400">
            <a:solidFill>
              <a:srgbClr val="F0A35E"/>
            </a:solidFill>
            <a:prstDash val="solid"/>
          </a:ln>
        </p:spPr>
      </p:sp>
      <p:sp>
        <p:nvSpPr>
          <p:cNvPr id="9" name="Text 7"/>
          <p:cNvSpPr/>
          <p:nvPr/>
        </p:nvSpPr>
        <p:spPr>
          <a:xfrm>
            <a:off x="4436467" y="5080198"/>
            <a:ext cx="341853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A35E"/>
                </a:solidFill>
                <a:latin typeface="IBM Plex Sans" pitchFamily="34" charset="0"/>
                <a:ea typeface="IBM Plex Sans" pitchFamily="34" charset="-122"/>
                <a:cs typeface="IBM Plex Sans" pitchFamily="34" charset="-120"/>
              </a:rPr>
              <a:t>ACCESS</a:t>
            </a:r>
            <a:endParaRPr lang="en-US" sz="1200" dirty="0"/>
          </a:p>
        </p:txBody>
      </p:sp>
      <p:sp>
        <p:nvSpPr>
          <p:cNvPr id="10" name="Text 8"/>
          <p:cNvSpPr/>
          <p:nvPr/>
        </p:nvSpPr>
        <p:spPr>
          <a:xfrm>
            <a:off x="4436467" y="5344319"/>
            <a:ext cx="3418535"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5F3EE"/>
                </a:solidFill>
                <a:latin typeface="IBM Plex Sans" pitchFamily="34" charset="0"/>
                <a:ea typeface="IBM Plex Sans" pitchFamily="34" charset="-122"/>
                <a:cs typeface="IBM Plex Sans" pitchFamily="34" charset="-120"/>
              </a:rPr>
              <a:t>Granted per file, for a short time.</a:t>
            </a:r>
            <a:endParaRPr lang="en-US" sz="1400" dirty="0"/>
          </a:p>
        </p:txBody>
      </p:sp>
      <p:sp>
        <p:nvSpPr>
          <p:cNvPr id="11" name="Shape 9"/>
          <p:cNvSpPr/>
          <p:nvPr/>
        </p:nvSpPr>
        <p:spPr>
          <a:xfrm>
            <a:off x="8060234" y="4915098"/>
            <a:ext cx="3318966" cy="0"/>
          </a:xfrm>
          <a:prstGeom prst="line">
            <a:avLst/>
          </a:prstGeom>
          <a:noFill/>
          <a:ln w="25400">
            <a:solidFill>
              <a:srgbClr val="F0A35E"/>
            </a:solidFill>
            <a:prstDash val="solid"/>
          </a:ln>
        </p:spPr>
      </p:sp>
      <p:sp>
        <p:nvSpPr>
          <p:cNvPr id="12" name="Text 10"/>
          <p:cNvSpPr/>
          <p:nvPr/>
        </p:nvSpPr>
        <p:spPr>
          <a:xfrm>
            <a:off x="8060234" y="5080198"/>
            <a:ext cx="341853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A35E"/>
                </a:solidFill>
                <a:latin typeface="IBM Plex Sans" pitchFamily="34" charset="0"/>
                <a:ea typeface="IBM Plex Sans" pitchFamily="34" charset="-122"/>
                <a:cs typeface="IBM Plex Sans" pitchFamily="34" charset="-120"/>
              </a:rPr>
              <a:t>CONTROL</a:t>
            </a:r>
            <a:endParaRPr lang="en-US" sz="1200" dirty="0"/>
          </a:p>
        </p:txBody>
      </p:sp>
      <p:sp>
        <p:nvSpPr>
          <p:cNvPr id="13" name="Text 11"/>
          <p:cNvSpPr/>
          <p:nvPr/>
        </p:nvSpPr>
        <p:spPr>
          <a:xfrm>
            <a:off x="8060234" y="5344319"/>
            <a:ext cx="3418535"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5F3EE"/>
                </a:solidFill>
                <a:latin typeface="IBM Plex Sans" pitchFamily="34" charset="0"/>
                <a:ea typeface="IBM Plex Sans" pitchFamily="34" charset="-122"/>
                <a:cs typeface="IBM Plex Sans" pitchFamily="34" charset="-120"/>
              </a:rPr>
              <a:t>A server you control signs every URL.</a:t>
            </a:r>
            <a:endParaRPr lang="en-US" sz="1400" dirty="0"/>
          </a:p>
        </p:txBody>
      </p:sp>
      <p:sp>
        <p:nvSpPr>
          <p:cNvPr id="14" name="Text 12"/>
          <p:cNvSpPr/>
          <p:nvPr/>
        </p:nvSpPr>
        <p:spPr>
          <a:xfrm>
            <a:off x="812800" y="6238280"/>
            <a:ext cx="34882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BAA"/>
                </a:solidFill>
                <a:latin typeface="IBM Plex Sans" pitchFamily="34" charset="0"/>
                <a:ea typeface="IBM Plex Sans" pitchFamily="34" charset="-122"/>
                <a:cs typeface="IBM Plex Sans" pitchFamily="34" charset="-120"/>
              </a:rPr>
              <a:t>TempShare · S3 presigned URLs practicum</a:t>
            </a:r>
            <a:endParaRPr lang="en-US" sz="1200" dirty="0"/>
          </a:p>
        </p:txBody>
      </p:sp>
      <p:sp>
        <p:nvSpPr>
          <p:cNvPr id="15" name="Text 13"/>
          <p:cNvSpPr/>
          <p:nvPr/>
        </p:nvSpPr>
        <p:spPr>
          <a:xfrm>
            <a:off x="11145441" y="62382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BAA"/>
                </a:solidFill>
                <a:latin typeface="IBM Plex Sans" pitchFamily="34" charset="0"/>
                <a:ea typeface="IBM Plex Sans" pitchFamily="34" charset="-122"/>
                <a:cs typeface="IBM Plex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F14"/>
                </a:solidFill>
                <a:latin typeface="IBM Plex Sans" pitchFamily="34" charset="0"/>
                <a:ea typeface="IBM Plex Sans" pitchFamily="34" charset="-122"/>
                <a:cs typeface="IBM Plex Sans" pitchFamily="34" charset="-120"/>
              </a:rPr>
              <a:t>1.1 LEARNING OBJECTIVES</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IBM Plex Sans" pitchFamily="34" charset="0"/>
                <a:ea typeface="IBM Plex Sans" pitchFamily="34" charset="-122"/>
                <a:cs typeface="IBM Plex Sans" pitchFamily="34" charset="-120"/>
              </a:rPr>
              <a:t>After this practicum you can</a:t>
            </a:r>
            <a:endParaRPr lang="en-US" sz="3200" dirty="0"/>
          </a:p>
        </p:txBody>
      </p:sp>
      <p:sp>
        <p:nvSpPr>
          <p:cNvPr id="4" name="Text 2"/>
          <p:cNvSpPr/>
          <p:nvPr/>
        </p:nvSpPr>
        <p:spPr>
          <a:xfrm>
            <a:off x="812800" y="1925241"/>
            <a:ext cx="4572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04F14"/>
                </a:solidFill>
                <a:latin typeface="JetBrains Mono" pitchFamily="49" charset="0"/>
                <a:ea typeface="JetBrains Mono" pitchFamily="49" charset="-122"/>
                <a:cs typeface="JetBrains Mono" pitchFamily="49" charset="-120"/>
              </a:rPr>
              <a:t>01</a:t>
            </a:r>
            <a:endParaRPr lang="en-US" sz="1600" dirty="0"/>
          </a:p>
        </p:txBody>
      </p:sp>
      <p:sp>
        <p:nvSpPr>
          <p:cNvPr id="5" name="Text 3"/>
          <p:cNvSpPr/>
          <p:nvPr/>
        </p:nvSpPr>
        <p:spPr>
          <a:xfrm>
            <a:off x="1422400" y="1899841"/>
            <a:ext cx="10255504"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14202B"/>
                </a:solidFill>
                <a:latin typeface="IBM Plex Sans" pitchFamily="34" charset="0"/>
                <a:ea typeface="IBM Plex Sans" pitchFamily="34" charset="-122"/>
                <a:cs typeface="IBM Plex Sans" pitchFamily="34" charset="-120"/>
              </a:rPr>
              <a:t>Configure a private S3 bucket with CORS, a lifecycle rule and a least-privilege IAM policy.</a:t>
            </a:r>
            <a:endParaRPr lang="en-US" sz="1800" dirty="0"/>
          </a:p>
        </p:txBody>
      </p:sp>
      <p:sp>
        <p:nvSpPr>
          <p:cNvPr id="6" name="Text 4"/>
          <p:cNvSpPr/>
          <p:nvPr/>
        </p:nvSpPr>
        <p:spPr>
          <a:xfrm>
            <a:off x="812800" y="2438301"/>
            <a:ext cx="4572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04F14"/>
                </a:solidFill>
                <a:latin typeface="JetBrains Mono" pitchFamily="49" charset="0"/>
                <a:ea typeface="JetBrains Mono" pitchFamily="49" charset="-122"/>
                <a:cs typeface="JetBrains Mono" pitchFamily="49" charset="-120"/>
              </a:rPr>
              <a:t>02</a:t>
            </a:r>
            <a:endParaRPr lang="en-US" sz="1600" dirty="0"/>
          </a:p>
        </p:txBody>
      </p:sp>
      <p:sp>
        <p:nvSpPr>
          <p:cNvPr id="7" name="Text 5"/>
          <p:cNvSpPr/>
          <p:nvPr/>
        </p:nvSpPr>
        <p:spPr>
          <a:xfrm>
            <a:off x="1422400" y="2412901"/>
            <a:ext cx="10255504"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14202B"/>
                </a:solidFill>
                <a:latin typeface="IBM Plex Sans" pitchFamily="34" charset="0"/>
                <a:ea typeface="IBM Plex Sans" pitchFamily="34" charset="-122"/>
                <a:cs typeface="IBM Plex Sans" pitchFamily="34" charset="-120"/>
              </a:rPr>
              <a:t>Generate presigned PUT and GET URLs with the AWS SDK for JavaScript v3.</a:t>
            </a:r>
            <a:endParaRPr lang="en-US" sz="1800" dirty="0"/>
          </a:p>
        </p:txBody>
      </p:sp>
      <p:sp>
        <p:nvSpPr>
          <p:cNvPr id="8" name="Text 6"/>
          <p:cNvSpPr/>
          <p:nvPr/>
        </p:nvSpPr>
        <p:spPr>
          <a:xfrm>
            <a:off x="812800" y="2951361"/>
            <a:ext cx="4572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04F14"/>
                </a:solidFill>
                <a:latin typeface="JetBrains Mono" pitchFamily="49" charset="0"/>
                <a:ea typeface="JetBrains Mono" pitchFamily="49" charset="-122"/>
                <a:cs typeface="JetBrains Mono" pitchFamily="49" charset="-120"/>
              </a:rPr>
              <a:t>03</a:t>
            </a:r>
            <a:endParaRPr lang="en-US" sz="1600" dirty="0"/>
          </a:p>
        </p:txBody>
      </p:sp>
      <p:sp>
        <p:nvSpPr>
          <p:cNvPr id="9" name="Text 7"/>
          <p:cNvSpPr/>
          <p:nvPr/>
        </p:nvSpPr>
        <p:spPr>
          <a:xfrm>
            <a:off x="1422400" y="2925961"/>
            <a:ext cx="10255504"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14202B"/>
                </a:solidFill>
                <a:latin typeface="IBM Plex Sans" pitchFamily="34" charset="0"/>
                <a:ea typeface="IBM Plex Sans" pitchFamily="34" charset="-122"/>
                <a:cs typeface="IBM Plex Sans" pitchFamily="34" charset="-120"/>
              </a:rPr>
              <a:t>Implement a secret-code check using salted hashing and constant-time comparison.</a:t>
            </a:r>
            <a:endParaRPr lang="en-US" sz="1800" dirty="0"/>
          </a:p>
        </p:txBody>
      </p:sp>
      <p:sp>
        <p:nvSpPr>
          <p:cNvPr id="10" name="Text 8"/>
          <p:cNvSpPr/>
          <p:nvPr/>
        </p:nvSpPr>
        <p:spPr>
          <a:xfrm>
            <a:off x="812800" y="3464421"/>
            <a:ext cx="4572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04F14"/>
                </a:solidFill>
                <a:latin typeface="JetBrains Mono" pitchFamily="49" charset="0"/>
                <a:ea typeface="JetBrains Mono" pitchFamily="49" charset="-122"/>
                <a:cs typeface="JetBrains Mono" pitchFamily="49" charset="-120"/>
              </a:rPr>
              <a:t>04</a:t>
            </a:r>
            <a:endParaRPr lang="en-US" sz="1600" dirty="0"/>
          </a:p>
        </p:txBody>
      </p:sp>
      <p:sp>
        <p:nvSpPr>
          <p:cNvPr id="11" name="Text 9"/>
          <p:cNvSpPr/>
          <p:nvPr/>
        </p:nvSpPr>
        <p:spPr>
          <a:xfrm>
            <a:off x="1422400" y="3439021"/>
            <a:ext cx="10255504"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14202B"/>
                </a:solidFill>
                <a:latin typeface="IBM Plex Sans" pitchFamily="34" charset="0"/>
                <a:ea typeface="IBM Plex Sans" pitchFamily="34" charset="-122"/>
                <a:cs typeface="IBM Plex Sans" pitchFamily="34" charset="-120"/>
              </a:rPr>
              <a:t>Explain why S3 lifecycle expiry alone cannot guarantee a strict 24-hour deadline, and design a second layer to compensate.</a:t>
            </a:r>
            <a:endParaRPr lang="en-US" sz="1800" dirty="0"/>
          </a:p>
        </p:txBody>
      </p:sp>
      <p:sp>
        <p:nvSpPr>
          <p:cNvPr id="12" name="Text 10"/>
          <p:cNvSpPr/>
          <p:nvPr/>
        </p:nvSpPr>
        <p:spPr>
          <a:xfrm>
            <a:off x="812800" y="4284762"/>
            <a:ext cx="4572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04F14"/>
                </a:solidFill>
                <a:latin typeface="JetBrains Mono" pitchFamily="49" charset="0"/>
                <a:ea typeface="JetBrains Mono" pitchFamily="49" charset="-122"/>
                <a:cs typeface="JetBrains Mono" pitchFamily="49" charset="-120"/>
              </a:rPr>
              <a:t>05</a:t>
            </a:r>
            <a:endParaRPr lang="en-US" sz="1600" dirty="0"/>
          </a:p>
        </p:txBody>
      </p:sp>
      <p:sp>
        <p:nvSpPr>
          <p:cNvPr id="13" name="Text 11"/>
          <p:cNvSpPr/>
          <p:nvPr/>
        </p:nvSpPr>
        <p:spPr>
          <a:xfrm>
            <a:off x="1422400" y="4259362"/>
            <a:ext cx="10255504"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14202B"/>
                </a:solidFill>
                <a:latin typeface="IBM Plex Sans" pitchFamily="34" charset="0"/>
                <a:ea typeface="IBM Plex Sans" pitchFamily="34" charset="-122"/>
                <a:cs typeface="IBM Plex Sans" pitchFamily="34" charset="-120"/>
              </a:rPr>
              <a:t>Identify common risks of file-sharing services: brute force, link guessing, unrestricted upload.</a:t>
            </a:r>
            <a:endParaRPr lang="en-US" sz="1800" dirty="0"/>
          </a:p>
        </p:txBody>
      </p:sp>
      <p:sp>
        <p:nvSpPr>
          <p:cNvPr id="14" name="Text 12"/>
          <p:cNvSpPr/>
          <p:nvPr/>
        </p:nvSpPr>
        <p:spPr>
          <a:xfrm>
            <a:off x="812800" y="6238280"/>
            <a:ext cx="34882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TempShare · S3 presigned URLs practicum</a:t>
            </a:r>
            <a:endParaRPr lang="en-US" sz="1200" dirty="0"/>
          </a:p>
        </p:txBody>
      </p:sp>
      <p:sp>
        <p:nvSpPr>
          <p:cNvPr id="15" name="Text 13"/>
          <p:cNvSpPr/>
          <p:nvPr/>
        </p:nvSpPr>
        <p:spPr>
          <a:xfrm>
            <a:off x="11145441" y="62382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F14"/>
                </a:solidFill>
                <a:latin typeface="IBM Plex Sans" pitchFamily="34" charset="0"/>
                <a:ea typeface="IBM Plex Sans" pitchFamily="34" charset="-122"/>
                <a:cs typeface="IBM Plex Sans" pitchFamily="34" charset="-120"/>
              </a:rPr>
              <a:t>SESSION PLAN · ABOUT 3 HOURS</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IBM Plex Sans" pitchFamily="34" charset="0"/>
                <a:ea typeface="IBM Plex Sans" pitchFamily="34" charset="-122"/>
                <a:cs typeface="IBM Plex Sans" pitchFamily="34" charset="-120"/>
              </a:rPr>
              <a:t>Six parts, one working app</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12541"/>
          <a:ext cx="7200900" cy="2701727"/>
        </p:xfrm>
        <a:graphic>
          <a:graphicData uri="http://schemas.openxmlformats.org/drawingml/2006/table">
            <a:tbl>
              <a:tblPr/>
              <a:tblGrid>
                <a:gridCol w="1296162"/>
                <a:gridCol w="4608576"/>
                <a:gridCol w="1296162"/>
              </a:tblGrid>
              <a:tr h="385961">
                <a:tc>
                  <a:txBody>
                    <a:bodyPr/>
                    <a:lstStyle/>
                    <a:p>
                      <a:pPr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Part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BAB7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AB7B0"/>
                      </a:solidFill>
                      <a:prstDash val="solid"/>
                      <a:round/>
                      <a:headEnd type="none" w="med" len="med"/>
                      <a:tailEnd type="none" w="med" len="med"/>
                    </a:lnB>
                    <a:solidFill>
                      <a:srgbClr val="E9E5DC"/>
                    </a:solidFill>
                  </a:tcPr>
                </a:tc>
                <a:tc>
                  <a:txBody>
                    <a:bodyPr/>
                    <a:lstStyle/>
                    <a:p>
                      <a:pPr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What you do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B7B0"/>
                      </a:solidFill>
                      <a:prstDash val="solid"/>
                      <a:round/>
                      <a:headEnd type="none" w="med" len="med"/>
                      <a:tailEnd type="none" w="med" len="med"/>
                    </a:lnL>
                    <a:lnR w="12700" cap="flat" cmpd="sng" algn="ctr">
                      <a:solidFill>
                        <a:srgbClr val="BAB7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AB7B0"/>
                      </a:solidFill>
                      <a:prstDash val="solid"/>
                      <a:round/>
                      <a:headEnd type="none" w="med" len="med"/>
                      <a:tailEnd type="none" w="med" len="med"/>
                    </a:lnB>
                    <a:solidFill>
                      <a:srgbClr val="E9E5DC"/>
                    </a:solidFill>
                  </a:tcPr>
                </a:tc>
                <a:tc>
                  <a:txBody>
                    <a:bodyPr/>
                    <a:lstStyle/>
                    <a:p>
                      <a:pPr algn="r"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Time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B7B0"/>
                      </a:solidFill>
                      <a:prstDash val="solid"/>
                      <a:round/>
                      <a:headEnd type="none" w="med" len="med"/>
                      <a:tailEnd type="none" w="med" len="med"/>
                    </a:lnL>
                    <a:lnR w="12700" cap="flat" cmpd="sng" algn="ctr">
                      <a:solidFill>
                        <a:srgbClr val="BAB7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AB7B0"/>
                      </a:solidFill>
                      <a:prstDash val="solid"/>
                      <a:round/>
                      <a:headEnd type="none" w="med" len="med"/>
                      <a:tailEnd type="none" w="med" len="med"/>
                    </a:lnB>
                    <a:solidFill>
                      <a:srgbClr val="E9E5DC"/>
                    </a:solidFill>
                  </a:tcPr>
                </a:tc>
              </a:tr>
              <a:tr h="385961">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Part 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AB7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AWS setup: bucket, CORS, lifecycle rule, IAM user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AB7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30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AB7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Part 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Project setup: package.json and .env</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15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Part 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Backend: server.js, presigning, code checks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40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Part 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Frontend: upload page and download page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30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Part 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Run and test: the 8-step checklist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20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Part 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Security discussion, then exercises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algn="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Report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5" name="Shape 2"/>
          <p:cNvSpPr/>
          <p:nvPr/>
        </p:nvSpPr>
        <p:spPr>
          <a:xfrm>
            <a:off x="8334375" y="1903016"/>
            <a:ext cx="3041650" cy="2906316"/>
          </a:xfrm>
          <a:prstGeom prst="roundRect">
            <a:avLst>
              <a:gd name="adj" fmla="val 3387"/>
            </a:avLst>
          </a:prstGeom>
          <a:solidFill>
            <a:srgbClr val="FFFDF8"/>
          </a:solidFill>
          <a:ln w="6350">
            <a:solidFill>
              <a:srgbClr val="DDD8CC"/>
            </a:solidFill>
            <a:prstDash val="solid"/>
          </a:ln>
        </p:spPr>
      </p:sp>
      <p:sp>
        <p:nvSpPr>
          <p:cNvPr id="6" name="Text 3"/>
          <p:cNvSpPr/>
          <p:nvPr/>
        </p:nvSpPr>
        <p:spPr>
          <a:xfrm>
            <a:off x="8591550" y="2160191"/>
            <a:ext cx="2603119"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B"/>
                </a:solidFill>
                <a:latin typeface="IBM Plex Sans" pitchFamily="34" charset="0"/>
                <a:ea typeface="IBM Plex Sans" pitchFamily="34" charset="-122"/>
                <a:cs typeface="IBM Plex Sans" pitchFamily="34" charset="-120"/>
              </a:rPr>
              <a:t>Prerequisites</a:t>
            </a:r>
            <a:endParaRPr lang="en-US" sz="1800" dirty="0"/>
          </a:p>
        </p:txBody>
      </p:sp>
      <p:sp>
        <p:nvSpPr>
          <p:cNvPr id="7" name="Text 4"/>
          <p:cNvSpPr/>
          <p:nvPr/>
        </p:nvSpPr>
        <p:spPr>
          <a:xfrm>
            <a:off x="8669782" y="2561431"/>
            <a:ext cx="2517267" cy="2016125"/>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dirty="0">
                <a:solidFill>
                  <a:srgbClr val="44505C"/>
                </a:solidFill>
                <a:latin typeface="IBM Plex Sans" pitchFamily="34" charset="0"/>
                <a:ea typeface="IBM Plex Sans" pitchFamily="34" charset="-122"/>
                <a:cs typeface="IBM Plex Sans" pitchFamily="34" charset="-120"/>
              </a:rPr>
              <a:t>AWS account that can create a bucket and an IAM user</a:t>
            </a:r>
            <a:endParaRPr lang="en-US" sz="1400" dirty="0"/>
          </a:p>
          <a:p>
            <a:pPr algn="l" marL="175768" indent="-175768">
              <a:lnSpc>
                <a:spcPts val="1960"/>
              </a:lnSpc>
              <a:buSzPct val="100000"/>
              <a:buChar char="•"/>
            </a:pPr>
            <a:r>
              <a:rPr lang="en-US" sz="1400" dirty="0">
                <a:solidFill>
                  <a:srgbClr val="44505C"/>
                </a:solidFill>
                <a:latin typeface="IBM Plex Sans" pitchFamily="34" charset="0"/>
                <a:ea typeface="IBM Plex Sans" pitchFamily="34" charset="-122"/>
                <a:cs typeface="IBM Plex Sans" pitchFamily="34" charset="-120"/>
              </a:rPr>
              <a:t>Node.js 18+ and npm</a:t>
            </a:r>
            <a:endParaRPr lang="en-US" sz="1400" dirty="0"/>
          </a:p>
          <a:p>
            <a:pPr algn="l" marL="175768" indent="-175768">
              <a:lnSpc>
                <a:spcPts val="1960"/>
              </a:lnSpc>
              <a:buSzPct val="100000"/>
              <a:buChar char="•"/>
            </a:pPr>
            <a:r>
              <a:rPr lang="en-US" sz="1400" dirty="0">
                <a:solidFill>
                  <a:srgbClr val="44505C"/>
                </a:solidFill>
                <a:latin typeface="IBM Plex Sans" pitchFamily="34" charset="0"/>
                <a:ea typeface="IBM Plex Sans" pitchFamily="34" charset="-122"/>
                <a:cs typeface="IBM Plex Sans" pitchFamily="34" charset="-120"/>
              </a:rPr>
              <a:t>AWS CLI (optional, for checks)</a:t>
            </a:r>
            <a:endParaRPr lang="en-US" sz="1400" dirty="0"/>
          </a:p>
          <a:p>
            <a:pPr algn="l" marL="175768" indent="-175768">
              <a:lnSpc>
                <a:spcPts val="1960"/>
              </a:lnSpc>
              <a:buSzPct val="100000"/>
              <a:buChar char="•"/>
            </a:pPr>
            <a:r>
              <a:rPr lang="en-US" sz="1400" dirty="0">
                <a:solidFill>
                  <a:srgbClr val="44505C"/>
                </a:solidFill>
                <a:latin typeface="IBM Plex Sans" pitchFamily="34" charset="0"/>
                <a:ea typeface="IBM Plex Sans" pitchFamily="34" charset="-122"/>
                <a:cs typeface="IBM Plex Sans" pitchFamily="34" charset="-120"/>
              </a:rPr>
              <a:t>HTTP, JSON and async/await JavaScript</a:t>
            </a:r>
            <a:endParaRPr lang="en-US" sz="1400" dirty="0"/>
          </a:p>
        </p:txBody>
      </p:sp>
      <p:sp>
        <p:nvSpPr>
          <p:cNvPr id="8" name="Text 5"/>
          <p:cNvSpPr/>
          <p:nvPr/>
        </p:nvSpPr>
        <p:spPr>
          <a:xfrm>
            <a:off x="812800" y="6238280"/>
            <a:ext cx="34882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TempShare · S3 presigned URLs practicum</a:t>
            </a:r>
            <a:endParaRPr lang="en-US" sz="1200" dirty="0"/>
          </a:p>
        </p:txBody>
      </p:sp>
      <p:sp>
        <p:nvSpPr>
          <p:cNvPr id="9" name="Text 6"/>
          <p:cNvSpPr/>
          <p:nvPr/>
        </p:nvSpPr>
        <p:spPr>
          <a:xfrm>
            <a:off x="11145441" y="62382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F14"/>
                </a:solidFill>
                <a:latin typeface="IBM Plex Sans" pitchFamily="34" charset="0"/>
                <a:ea typeface="IBM Plex Sans" pitchFamily="34" charset="-122"/>
                <a:cs typeface="IBM Plex Sans" pitchFamily="34" charset="-120"/>
              </a:rPr>
              <a:t>1.3 SYSTEM ARCHITECTURE</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IBM Plex Sans" pitchFamily="34" charset="0"/>
                <a:ea typeface="IBM Plex Sans" pitchFamily="34" charset="-122"/>
                <a:cs typeface="IBM Plex Sans" pitchFamily="34" charset="-120"/>
              </a:rPr>
              <a:t>Upload flow</a:t>
            </a:r>
            <a:endParaRPr lang="en-US" sz="3200" dirty="0"/>
          </a:p>
        </p:txBody>
      </p:sp>
      <p:sp>
        <p:nvSpPr>
          <p:cNvPr id="4" name="Shape 2"/>
          <p:cNvSpPr/>
          <p:nvPr/>
        </p:nvSpPr>
        <p:spPr>
          <a:xfrm>
            <a:off x="815975" y="1903016"/>
            <a:ext cx="2292350" cy="3058815"/>
          </a:xfrm>
          <a:prstGeom prst="roundRect">
            <a:avLst>
              <a:gd name="adj" fmla="val 4294"/>
            </a:avLst>
          </a:prstGeom>
          <a:solidFill>
            <a:srgbClr val="FFFDF8"/>
          </a:solidFill>
          <a:ln w="6350">
            <a:solidFill>
              <a:srgbClr val="DDD8CC"/>
            </a:solidFill>
            <a:prstDash val="solid"/>
          </a:ln>
        </p:spPr>
      </p:sp>
      <p:sp>
        <p:nvSpPr>
          <p:cNvPr id="5" name="Text 3"/>
          <p:cNvSpPr/>
          <p:nvPr/>
        </p:nvSpPr>
        <p:spPr>
          <a:xfrm>
            <a:off x="1022350" y="2109391"/>
            <a:ext cx="1935988"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04F14"/>
                </a:solidFill>
                <a:latin typeface="JetBrains Mono" pitchFamily="49" charset="0"/>
                <a:ea typeface="JetBrains Mono" pitchFamily="49" charset="-122"/>
                <a:cs typeface="JetBrains Mono" pitchFamily="49" charset="-120"/>
              </a:rPr>
              <a:t>01</a:t>
            </a:r>
            <a:endParaRPr lang="en-US" sz="1600" dirty="0"/>
          </a:p>
        </p:txBody>
      </p:sp>
      <p:sp>
        <p:nvSpPr>
          <p:cNvPr id="6" name="Text 4"/>
          <p:cNvSpPr/>
          <p:nvPr/>
        </p:nvSpPr>
        <p:spPr>
          <a:xfrm>
            <a:off x="1022350" y="2495451"/>
            <a:ext cx="1629966" cy="289520"/>
          </a:xfrm>
          <a:custGeom>
            <a:avLst/>
            <a:gdLst/>
            <a:ahLst/>
            <a:cxnLst/>
            <a:rect l="l" t="t" r="r" b="b"/>
            <a:pathLst>
              <a:path w="1629966" h="289520">
                <a:moveTo>
                  <a:pt x="144760" y="0"/>
                </a:moveTo>
                <a:lnTo>
                  <a:pt x="1485205" y="0"/>
                </a:lnTo>
                <a:arcTo hR="144760" wR="144760" stAng="16200000" swAng="5400000"/>
                <a:lnTo>
                  <a:pt x="1629966" y="144760"/>
                </a:lnTo>
                <a:arcTo hR="144760" wR="144760" stAng="0" swAng="5400000"/>
                <a:lnTo>
                  <a:pt x="144760" y="289520"/>
                </a:lnTo>
                <a:arcTo hR="144760" wR="144760" stAng="5400000" swAng="5400000"/>
                <a:lnTo>
                  <a:pt x="0" y="144760"/>
                </a:lnTo>
                <a:arcTo hR="144760" wR="144760" stAng="10800000" swAng="5400000"/>
                <a:close/>
              </a:path>
            </a:pathLst>
          </a:custGeom>
          <a:solidFill>
            <a:srgbClr val="14202B"/>
          </a:solidFill>
          <a:ln/>
        </p:spPr>
        <p:txBody>
          <a:bodyPr wrap="none" lIns="0" tIns="0" rIns="0" bIns="0" rtlCol="0" anchor="ctr">
            <a:normAutofit/>
          </a:bodyPr>
          <a:lstStyle/>
          <a:p>
            <a:pPr algn="ctr" indent="0" marL="0">
              <a:lnSpc>
                <a:spcPts val="1680"/>
              </a:lnSpc>
              <a:buNone/>
            </a:pPr>
            <a:r>
              <a:rPr lang="en-US" sz="1200" b="1" dirty="0">
                <a:solidFill>
                  <a:srgbClr val="F5F3EE"/>
                </a:solidFill>
                <a:latin typeface="IBM Plex Sans" pitchFamily="34" charset="0"/>
                <a:ea typeface="IBM Plex Sans" pitchFamily="34" charset="-122"/>
                <a:cs typeface="IBM Plex Sans" pitchFamily="34" charset="-120"/>
              </a:rPr>
              <a:t>Browser → Backend</a:t>
            </a:r>
            <a:endParaRPr lang="en-US" sz="1200" dirty="0"/>
          </a:p>
        </p:txBody>
      </p:sp>
      <p:sp>
        <p:nvSpPr>
          <p:cNvPr id="7" name="Text 5"/>
          <p:cNvSpPr/>
          <p:nvPr/>
        </p:nvSpPr>
        <p:spPr>
          <a:xfrm>
            <a:off x="1022350" y="2886571"/>
            <a:ext cx="193598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B"/>
                </a:solidFill>
                <a:latin typeface="IBM Plex Sans" pitchFamily="34" charset="0"/>
                <a:ea typeface="IBM Plex Sans" pitchFamily="34" charset="-122"/>
                <a:cs typeface="IBM Plex Sans" pitchFamily="34" charset="-120"/>
              </a:rPr>
              <a:t>Ask to upload</a:t>
            </a:r>
            <a:endParaRPr lang="en-US" sz="1800" dirty="0"/>
          </a:p>
        </p:txBody>
      </p:sp>
      <p:sp>
        <p:nvSpPr>
          <p:cNvPr id="8" name="Text 6"/>
          <p:cNvSpPr/>
          <p:nvPr/>
        </p:nvSpPr>
        <p:spPr>
          <a:xfrm>
            <a:off x="1022350" y="3262412"/>
            <a:ext cx="1706959" cy="314920"/>
          </a:xfrm>
          <a:prstGeom prst="roundRect">
            <a:avLst>
              <a:gd name="adj" fmla="val 16131"/>
            </a:avLst>
          </a:prstGeom>
          <a:solidFill>
            <a:srgbClr val="ECE7DD"/>
          </a:solidFill>
          <a:ln/>
        </p:spPr>
        <p:txBody>
          <a:bodyPr wrap="none" lIns="0" tIns="0" rIns="0" bIns="0" rtlCol="0" anchor="ctr">
            <a:normAutofit/>
          </a:bodyPr>
          <a:lstStyle/>
          <a:p>
            <a:pPr algn="ctr" indent="0" marL="0">
              <a:lnSpc>
                <a:spcPts val="1680"/>
              </a:lnSpc>
              <a:buNone/>
            </a:pPr>
            <a:r>
              <a:rPr lang="en-US" sz="1200" dirty="0">
                <a:solidFill>
                  <a:srgbClr val="14202B"/>
                </a:solidFill>
                <a:latin typeface="JetBrains Mono" pitchFamily="49" charset="0"/>
                <a:ea typeface="JetBrains Mono" pitchFamily="49" charset="-122"/>
                <a:cs typeface="JetBrains Mono" pitchFamily="49" charset="-120"/>
              </a:rPr>
              <a:t>POST /api/uploads</a:t>
            </a:r>
            <a:endParaRPr lang="en-US" sz="1200" dirty="0"/>
          </a:p>
        </p:txBody>
      </p:sp>
      <p:sp>
        <p:nvSpPr>
          <p:cNvPr id="9" name="Text 7"/>
          <p:cNvSpPr/>
          <p:nvPr/>
        </p:nvSpPr>
        <p:spPr>
          <a:xfrm>
            <a:off x="1022350" y="3678932"/>
            <a:ext cx="193598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Sends the file name, type and size.</a:t>
            </a:r>
            <a:endParaRPr lang="en-US" sz="1400" dirty="0"/>
          </a:p>
        </p:txBody>
      </p:sp>
      <p:pic>
        <p:nvPicPr>
          <p:cNvPr id="10" name="Image 0" descr="arrow-right">    </p:cNvPr>
          <p:cNvPicPr>
            <a:picLocks noChangeAspect="1"/>
          </p:cNvPicPr>
          <p:nvPr/>
        </p:nvPicPr>
        <p:blipFill>
          <a:blip r:embed="rId1"/>
          <a:srcRect l="0" r="0" t="0" b="0"/>
          <a:stretch/>
        </p:blipFill>
        <p:spPr>
          <a:xfrm>
            <a:off x="3213100" y="3356173"/>
            <a:ext cx="254000" cy="152400"/>
          </a:xfrm>
          <a:prstGeom prst="rect">
            <a:avLst/>
          </a:prstGeom>
        </p:spPr>
      </p:pic>
      <p:sp>
        <p:nvSpPr>
          <p:cNvPr id="11" name="Shape 8"/>
          <p:cNvSpPr/>
          <p:nvPr/>
        </p:nvSpPr>
        <p:spPr>
          <a:xfrm>
            <a:off x="3571875" y="1903016"/>
            <a:ext cx="2292350" cy="3058815"/>
          </a:xfrm>
          <a:prstGeom prst="roundRect">
            <a:avLst>
              <a:gd name="adj" fmla="val 4294"/>
            </a:avLst>
          </a:prstGeom>
          <a:solidFill>
            <a:srgbClr val="FFFDF8"/>
          </a:solidFill>
          <a:ln w="6350">
            <a:solidFill>
              <a:srgbClr val="DDD8CC"/>
            </a:solidFill>
            <a:prstDash val="solid"/>
          </a:ln>
        </p:spPr>
      </p:sp>
      <p:sp>
        <p:nvSpPr>
          <p:cNvPr id="12" name="Text 9"/>
          <p:cNvSpPr/>
          <p:nvPr/>
        </p:nvSpPr>
        <p:spPr>
          <a:xfrm>
            <a:off x="3778250" y="2109391"/>
            <a:ext cx="1935988"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04F14"/>
                </a:solidFill>
                <a:latin typeface="JetBrains Mono" pitchFamily="49" charset="0"/>
                <a:ea typeface="JetBrains Mono" pitchFamily="49" charset="-122"/>
                <a:cs typeface="JetBrains Mono" pitchFamily="49" charset="-120"/>
              </a:rPr>
              <a:t>02</a:t>
            </a:r>
            <a:endParaRPr lang="en-US" sz="1600" dirty="0"/>
          </a:p>
        </p:txBody>
      </p:sp>
      <p:sp>
        <p:nvSpPr>
          <p:cNvPr id="13" name="Text 10"/>
          <p:cNvSpPr/>
          <p:nvPr/>
        </p:nvSpPr>
        <p:spPr>
          <a:xfrm>
            <a:off x="3778250" y="2495451"/>
            <a:ext cx="815677" cy="289520"/>
          </a:xfrm>
          <a:custGeom>
            <a:avLst/>
            <a:gdLst/>
            <a:ahLst/>
            <a:cxnLst/>
            <a:rect l="l" t="t" r="r" b="b"/>
            <a:pathLst>
              <a:path w="815677" h="289520">
                <a:moveTo>
                  <a:pt x="144760" y="0"/>
                </a:moveTo>
                <a:lnTo>
                  <a:pt x="670917" y="0"/>
                </a:lnTo>
                <a:arcTo hR="144760" wR="144760" stAng="16200000" swAng="5400000"/>
                <a:lnTo>
                  <a:pt x="815677" y="144760"/>
                </a:lnTo>
                <a:arcTo hR="144760" wR="144760" stAng="0" swAng="5400000"/>
                <a:lnTo>
                  <a:pt x="144760" y="289520"/>
                </a:lnTo>
                <a:arcTo hR="144760" wR="144760" stAng="5400000" swAng="5400000"/>
                <a:lnTo>
                  <a:pt x="0" y="144760"/>
                </a:lnTo>
                <a:arcTo hR="144760" wR="144760" stAng="10800000" swAng="5400000"/>
                <a:close/>
              </a:path>
            </a:pathLst>
          </a:custGeom>
          <a:solidFill>
            <a:srgbClr val="14202B"/>
          </a:solidFill>
          <a:ln/>
        </p:spPr>
        <p:txBody>
          <a:bodyPr wrap="none" lIns="0" tIns="0" rIns="0" bIns="0" rtlCol="0" anchor="ctr">
            <a:normAutofit/>
          </a:bodyPr>
          <a:lstStyle/>
          <a:p>
            <a:pPr algn="ctr" indent="0" marL="0">
              <a:lnSpc>
                <a:spcPts val="1680"/>
              </a:lnSpc>
              <a:buNone/>
            </a:pPr>
            <a:r>
              <a:rPr lang="en-US" sz="1200" b="1" dirty="0">
                <a:solidFill>
                  <a:srgbClr val="F5F3EE"/>
                </a:solidFill>
                <a:latin typeface="IBM Plex Sans" pitchFamily="34" charset="0"/>
                <a:ea typeface="IBM Plex Sans" pitchFamily="34" charset="-122"/>
                <a:cs typeface="IBM Plex Sans" pitchFamily="34" charset="-120"/>
              </a:rPr>
              <a:t>Backend</a:t>
            </a:r>
            <a:endParaRPr lang="en-US" sz="1200" dirty="0"/>
          </a:p>
        </p:txBody>
      </p:sp>
      <p:sp>
        <p:nvSpPr>
          <p:cNvPr id="14" name="Text 11"/>
          <p:cNvSpPr/>
          <p:nvPr/>
        </p:nvSpPr>
        <p:spPr>
          <a:xfrm>
            <a:off x="3778250" y="2886571"/>
            <a:ext cx="193598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B"/>
                </a:solidFill>
                <a:latin typeface="IBM Plex Sans" pitchFamily="34" charset="0"/>
                <a:ea typeface="IBM Plex Sans" pitchFamily="34" charset="-122"/>
                <a:cs typeface="IBM Plex Sans" pitchFamily="34" charset="-120"/>
              </a:rPr>
              <a:t>Sign and record</a:t>
            </a:r>
            <a:endParaRPr lang="en-US" sz="1800" dirty="0"/>
          </a:p>
        </p:txBody>
      </p:sp>
      <p:sp>
        <p:nvSpPr>
          <p:cNvPr id="15" name="Text 12"/>
          <p:cNvSpPr/>
          <p:nvPr/>
        </p:nvSpPr>
        <p:spPr>
          <a:xfrm>
            <a:off x="3778250" y="3262412"/>
            <a:ext cx="1935988" cy="151844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Random share ID and secret code. Stores the hashed code and expiresAt, then signs a PUT URL valid 5 minutes.</a:t>
            </a:r>
            <a:endParaRPr lang="en-US" sz="1400" dirty="0"/>
          </a:p>
        </p:txBody>
      </p:sp>
      <p:pic>
        <p:nvPicPr>
          <p:cNvPr id="16" name="Image 1" descr="arrow-right">    </p:cNvPr>
          <p:cNvPicPr>
            <a:picLocks noChangeAspect="1"/>
          </p:cNvPicPr>
          <p:nvPr/>
        </p:nvPicPr>
        <p:blipFill>
          <a:blip r:embed="rId2"/>
          <a:srcRect l="0" r="0" t="0" b="0"/>
          <a:stretch/>
        </p:blipFill>
        <p:spPr>
          <a:xfrm>
            <a:off x="5969000" y="3356173"/>
            <a:ext cx="254000" cy="152400"/>
          </a:xfrm>
          <a:prstGeom prst="rect">
            <a:avLst/>
          </a:prstGeom>
        </p:spPr>
      </p:pic>
      <p:sp>
        <p:nvSpPr>
          <p:cNvPr id="17" name="Shape 13"/>
          <p:cNvSpPr/>
          <p:nvPr/>
        </p:nvSpPr>
        <p:spPr>
          <a:xfrm>
            <a:off x="6327775" y="1903016"/>
            <a:ext cx="2292350" cy="3058815"/>
          </a:xfrm>
          <a:prstGeom prst="roundRect">
            <a:avLst>
              <a:gd name="adj" fmla="val 4294"/>
            </a:avLst>
          </a:prstGeom>
          <a:solidFill>
            <a:srgbClr val="FFFDF8"/>
          </a:solidFill>
          <a:ln w="6350">
            <a:solidFill>
              <a:srgbClr val="DDD8CC"/>
            </a:solidFill>
            <a:prstDash val="solid"/>
          </a:ln>
        </p:spPr>
      </p:sp>
      <p:sp>
        <p:nvSpPr>
          <p:cNvPr id="18" name="Text 14"/>
          <p:cNvSpPr/>
          <p:nvPr/>
        </p:nvSpPr>
        <p:spPr>
          <a:xfrm>
            <a:off x="6534150" y="2109391"/>
            <a:ext cx="1935988"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04F14"/>
                </a:solidFill>
                <a:latin typeface="JetBrains Mono" pitchFamily="49" charset="0"/>
                <a:ea typeface="JetBrains Mono" pitchFamily="49" charset="-122"/>
                <a:cs typeface="JetBrains Mono" pitchFamily="49" charset="-120"/>
              </a:rPr>
              <a:t>03</a:t>
            </a:r>
            <a:endParaRPr lang="en-US" sz="1600" dirty="0"/>
          </a:p>
        </p:txBody>
      </p:sp>
      <p:sp>
        <p:nvSpPr>
          <p:cNvPr id="19" name="Text 15"/>
          <p:cNvSpPr/>
          <p:nvPr/>
        </p:nvSpPr>
        <p:spPr>
          <a:xfrm>
            <a:off x="6534150" y="2495451"/>
            <a:ext cx="1202234" cy="289520"/>
          </a:xfrm>
          <a:custGeom>
            <a:avLst/>
            <a:gdLst/>
            <a:ahLst/>
            <a:cxnLst/>
            <a:rect l="l" t="t" r="r" b="b"/>
            <a:pathLst>
              <a:path w="1202234" h="289520">
                <a:moveTo>
                  <a:pt x="144760" y="0"/>
                </a:moveTo>
                <a:lnTo>
                  <a:pt x="1057473" y="0"/>
                </a:lnTo>
                <a:arcTo hR="144760" wR="144760" stAng="16200000" swAng="5400000"/>
                <a:lnTo>
                  <a:pt x="1202234" y="144760"/>
                </a:lnTo>
                <a:arcTo hR="144760" wR="144760" stAng="0" swAng="5400000"/>
                <a:lnTo>
                  <a:pt x="144760" y="289520"/>
                </a:lnTo>
                <a:arcTo hR="144760" wR="144760" stAng="5400000" swAng="5400000"/>
                <a:lnTo>
                  <a:pt x="0" y="144760"/>
                </a:lnTo>
                <a:arcTo hR="144760" wR="144760" stAng="10800000" swAng="5400000"/>
                <a:close/>
              </a:path>
            </a:pathLst>
          </a:custGeom>
          <a:solidFill>
            <a:srgbClr val="14202B"/>
          </a:solidFill>
          <a:ln/>
        </p:spPr>
        <p:txBody>
          <a:bodyPr wrap="none" lIns="0" tIns="0" rIns="0" bIns="0" rtlCol="0" anchor="ctr">
            <a:normAutofit/>
          </a:bodyPr>
          <a:lstStyle/>
          <a:p>
            <a:pPr algn="ctr" indent="0" marL="0">
              <a:lnSpc>
                <a:spcPts val="1680"/>
              </a:lnSpc>
              <a:buNone/>
            </a:pPr>
            <a:r>
              <a:rPr lang="en-US" sz="1200" b="1" dirty="0">
                <a:solidFill>
                  <a:srgbClr val="F5F3EE"/>
                </a:solidFill>
                <a:latin typeface="IBM Plex Sans" pitchFamily="34" charset="0"/>
                <a:ea typeface="IBM Plex Sans" pitchFamily="34" charset="-122"/>
                <a:cs typeface="IBM Plex Sans" pitchFamily="34" charset="-120"/>
              </a:rPr>
              <a:t>Browser → S3</a:t>
            </a:r>
            <a:endParaRPr lang="en-US" sz="1200" dirty="0"/>
          </a:p>
        </p:txBody>
      </p:sp>
      <p:sp>
        <p:nvSpPr>
          <p:cNvPr id="20" name="Text 16"/>
          <p:cNvSpPr/>
          <p:nvPr/>
        </p:nvSpPr>
        <p:spPr>
          <a:xfrm>
            <a:off x="6534150" y="2886571"/>
            <a:ext cx="193598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B"/>
                </a:solidFill>
                <a:latin typeface="IBM Plex Sans" pitchFamily="34" charset="0"/>
                <a:ea typeface="IBM Plex Sans" pitchFamily="34" charset="-122"/>
                <a:cs typeface="IBM Plex Sans" pitchFamily="34" charset="-120"/>
              </a:rPr>
              <a:t>Upload directly</a:t>
            </a:r>
            <a:endParaRPr lang="en-US" sz="1800" dirty="0"/>
          </a:p>
        </p:txBody>
      </p:sp>
      <p:sp>
        <p:nvSpPr>
          <p:cNvPr id="21" name="Text 17"/>
          <p:cNvSpPr/>
          <p:nvPr/>
        </p:nvSpPr>
        <p:spPr>
          <a:xfrm>
            <a:off x="6534150" y="3262412"/>
            <a:ext cx="1341140" cy="314920"/>
          </a:xfrm>
          <a:prstGeom prst="roundRect">
            <a:avLst>
              <a:gd name="adj" fmla="val 16131"/>
            </a:avLst>
          </a:prstGeom>
          <a:solidFill>
            <a:srgbClr val="ECE7DD"/>
          </a:solidFill>
          <a:ln/>
        </p:spPr>
        <p:txBody>
          <a:bodyPr wrap="none" lIns="0" tIns="0" rIns="0" bIns="0" rtlCol="0" anchor="ctr">
            <a:normAutofit/>
          </a:bodyPr>
          <a:lstStyle/>
          <a:p>
            <a:pPr algn="ctr" indent="0" marL="0">
              <a:lnSpc>
                <a:spcPts val="1680"/>
              </a:lnSpc>
              <a:buNone/>
            </a:pPr>
            <a:r>
              <a:rPr lang="en-US" sz="1200" dirty="0">
                <a:solidFill>
                  <a:srgbClr val="14202B"/>
                </a:solidFill>
                <a:latin typeface="JetBrains Mono" pitchFamily="49" charset="0"/>
                <a:ea typeface="JetBrains Mono" pitchFamily="49" charset="-122"/>
                <a:cs typeface="JetBrains Mono" pitchFamily="49" charset="-120"/>
              </a:rPr>
              <a:t>PUT uploadUrl</a:t>
            </a:r>
            <a:endParaRPr lang="en-US" sz="1200" dirty="0"/>
          </a:p>
        </p:txBody>
      </p:sp>
      <p:sp>
        <p:nvSpPr>
          <p:cNvPr id="22" name="Text 18"/>
          <p:cNvSpPr/>
          <p:nvPr/>
        </p:nvSpPr>
        <p:spPr>
          <a:xfrm>
            <a:off x="6534150" y="3678932"/>
            <a:ext cx="1935988"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The Content-Type header must match the signed type.</a:t>
            </a:r>
            <a:endParaRPr lang="en-US" sz="1400" dirty="0"/>
          </a:p>
        </p:txBody>
      </p:sp>
      <p:pic>
        <p:nvPicPr>
          <p:cNvPr id="23" name="Image 2" descr="arrow-right">    </p:cNvPr>
          <p:cNvPicPr>
            <a:picLocks noChangeAspect="1"/>
          </p:cNvPicPr>
          <p:nvPr/>
        </p:nvPicPr>
        <p:blipFill>
          <a:blip r:embed="rId3"/>
          <a:srcRect l="0" r="0" t="0" b="0"/>
          <a:stretch/>
        </p:blipFill>
        <p:spPr>
          <a:xfrm>
            <a:off x="8724900" y="3356173"/>
            <a:ext cx="254000" cy="152400"/>
          </a:xfrm>
          <a:prstGeom prst="rect">
            <a:avLst/>
          </a:prstGeom>
        </p:spPr>
      </p:pic>
      <p:sp>
        <p:nvSpPr>
          <p:cNvPr id="24" name="Shape 19"/>
          <p:cNvSpPr/>
          <p:nvPr/>
        </p:nvSpPr>
        <p:spPr>
          <a:xfrm>
            <a:off x="9083675" y="1903016"/>
            <a:ext cx="2292350" cy="3058815"/>
          </a:xfrm>
          <a:prstGeom prst="roundRect">
            <a:avLst>
              <a:gd name="adj" fmla="val 4294"/>
            </a:avLst>
          </a:prstGeom>
          <a:solidFill>
            <a:srgbClr val="FFFDF8"/>
          </a:solidFill>
          <a:ln w="6350">
            <a:solidFill>
              <a:srgbClr val="DDD8CC"/>
            </a:solidFill>
            <a:prstDash val="solid"/>
          </a:ln>
        </p:spPr>
      </p:sp>
      <p:sp>
        <p:nvSpPr>
          <p:cNvPr id="25" name="Text 20"/>
          <p:cNvSpPr/>
          <p:nvPr/>
        </p:nvSpPr>
        <p:spPr>
          <a:xfrm>
            <a:off x="9290050" y="2109391"/>
            <a:ext cx="1935988"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04F14"/>
                </a:solidFill>
                <a:latin typeface="JetBrains Mono" pitchFamily="49" charset="0"/>
                <a:ea typeface="JetBrains Mono" pitchFamily="49" charset="-122"/>
                <a:cs typeface="JetBrains Mono" pitchFamily="49" charset="-120"/>
              </a:rPr>
              <a:t>04</a:t>
            </a:r>
            <a:endParaRPr lang="en-US" sz="1600" dirty="0"/>
          </a:p>
        </p:txBody>
      </p:sp>
      <p:sp>
        <p:nvSpPr>
          <p:cNvPr id="26" name="Text 21"/>
          <p:cNvSpPr/>
          <p:nvPr/>
        </p:nvSpPr>
        <p:spPr>
          <a:xfrm>
            <a:off x="9290050" y="2495451"/>
            <a:ext cx="793254" cy="289520"/>
          </a:xfrm>
          <a:custGeom>
            <a:avLst/>
            <a:gdLst/>
            <a:ahLst/>
            <a:cxnLst/>
            <a:rect l="l" t="t" r="r" b="b"/>
            <a:pathLst>
              <a:path w="793254" h="289520">
                <a:moveTo>
                  <a:pt x="144760" y="0"/>
                </a:moveTo>
                <a:lnTo>
                  <a:pt x="648494" y="0"/>
                </a:lnTo>
                <a:arcTo hR="144760" wR="144760" stAng="16200000" swAng="5400000"/>
                <a:lnTo>
                  <a:pt x="793254" y="144760"/>
                </a:lnTo>
                <a:arcTo hR="144760" wR="144760" stAng="0" swAng="5400000"/>
                <a:lnTo>
                  <a:pt x="144760" y="289520"/>
                </a:lnTo>
                <a:arcTo hR="144760" wR="144760" stAng="5400000" swAng="5400000"/>
                <a:lnTo>
                  <a:pt x="0" y="144760"/>
                </a:lnTo>
                <a:arcTo hR="144760" wR="144760" stAng="10800000" swAng="5400000"/>
                <a:close/>
              </a:path>
            </a:pathLst>
          </a:custGeom>
          <a:solidFill>
            <a:srgbClr val="14202B"/>
          </a:solidFill>
          <a:ln/>
        </p:spPr>
        <p:txBody>
          <a:bodyPr wrap="none" lIns="0" tIns="0" rIns="0" bIns="0" rtlCol="0" anchor="ctr">
            <a:normAutofit/>
          </a:bodyPr>
          <a:lstStyle/>
          <a:p>
            <a:pPr algn="ctr" indent="0" marL="0">
              <a:lnSpc>
                <a:spcPts val="1680"/>
              </a:lnSpc>
              <a:buNone/>
            </a:pPr>
            <a:r>
              <a:rPr lang="en-US" sz="1200" b="1" dirty="0">
                <a:solidFill>
                  <a:srgbClr val="F5F3EE"/>
                </a:solidFill>
                <a:latin typeface="IBM Plex Sans" pitchFamily="34" charset="0"/>
                <a:ea typeface="IBM Plex Sans" pitchFamily="34" charset="-122"/>
                <a:cs typeface="IBM Plex Sans" pitchFamily="34" charset="-120"/>
              </a:rPr>
              <a:t>Browser</a:t>
            </a:r>
            <a:endParaRPr lang="en-US" sz="1200" dirty="0"/>
          </a:p>
        </p:txBody>
      </p:sp>
      <p:sp>
        <p:nvSpPr>
          <p:cNvPr id="27" name="Text 22"/>
          <p:cNvSpPr/>
          <p:nvPr/>
        </p:nvSpPr>
        <p:spPr>
          <a:xfrm>
            <a:off x="9290050" y="2886571"/>
            <a:ext cx="193598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B"/>
                </a:solidFill>
                <a:latin typeface="IBM Plex Sans" pitchFamily="34" charset="0"/>
                <a:ea typeface="IBM Plex Sans" pitchFamily="34" charset="-122"/>
                <a:cs typeface="IBM Plex Sans" pitchFamily="34" charset="-120"/>
              </a:rPr>
              <a:t>Show link + code</a:t>
            </a:r>
            <a:endParaRPr lang="en-US" sz="1800" dirty="0"/>
          </a:p>
        </p:txBody>
      </p:sp>
      <p:sp>
        <p:nvSpPr>
          <p:cNvPr id="28" name="Text 23"/>
          <p:cNvSpPr/>
          <p:nvPr/>
        </p:nvSpPr>
        <p:spPr>
          <a:xfrm>
            <a:off x="9290050" y="3262412"/>
            <a:ext cx="1935988"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Displays the share link and the secret code, once. Send them separately.</a:t>
            </a:r>
            <a:endParaRPr lang="en-US" sz="1400" dirty="0"/>
          </a:p>
        </p:txBody>
      </p:sp>
      <p:sp>
        <p:nvSpPr>
          <p:cNvPr id="29" name="Text 24"/>
          <p:cNvSpPr/>
          <p:nvPr/>
        </p:nvSpPr>
        <p:spPr>
          <a:xfrm>
            <a:off x="812800" y="6238280"/>
            <a:ext cx="34882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TempShare · S3 presigned URLs practicum</a:t>
            </a:r>
            <a:endParaRPr lang="en-US" sz="1200" dirty="0"/>
          </a:p>
        </p:txBody>
      </p:sp>
      <p:sp>
        <p:nvSpPr>
          <p:cNvPr id="30" name="Text 25"/>
          <p:cNvSpPr/>
          <p:nvPr/>
        </p:nvSpPr>
        <p:spPr>
          <a:xfrm>
            <a:off x="11145441" y="62382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F14"/>
                </a:solidFill>
                <a:latin typeface="IBM Plex Sans" pitchFamily="34" charset="0"/>
                <a:ea typeface="IBM Plex Sans" pitchFamily="34" charset="-122"/>
                <a:cs typeface="IBM Plex Sans" pitchFamily="34" charset="-120"/>
              </a:rPr>
              <a:t>1.3 SYSTEM ARCHITECTURE</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IBM Plex Sans" pitchFamily="34" charset="0"/>
                <a:ea typeface="IBM Plex Sans" pitchFamily="34" charset="-122"/>
                <a:cs typeface="IBM Plex Sans" pitchFamily="34" charset="-120"/>
              </a:rPr>
              <a:t>Download flow</a:t>
            </a:r>
            <a:endParaRPr lang="en-US" sz="3200" dirty="0"/>
          </a:p>
        </p:txBody>
      </p:sp>
      <p:sp>
        <p:nvSpPr>
          <p:cNvPr id="4" name="Shape 2"/>
          <p:cNvSpPr/>
          <p:nvPr/>
        </p:nvSpPr>
        <p:spPr>
          <a:xfrm>
            <a:off x="815975" y="1903016"/>
            <a:ext cx="2292350" cy="2977654"/>
          </a:xfrm>
          <a:prstGeom prst="roundRect">
            <a:avLst>
              <a:gd name="adj" fmla="val 4294"/>
            </a:avLst>
          </a:prstGeom>
          <a:solidFill>
            <a:srgbClr val="FFFDF8"/>
          </a:solidFill>
          <a:ln w="6350">
            <a:solidFill>
              <a:srgbClr val="DDD8CC"/>
            </a:solidFill>
            <a:prstDash val="solid"/>
          </a:ln>
        </p:spPr>
      </p:sp>
      <p:sp>
        <p:nvSpPr>
          <p:cNvPr id="5" name="Text 3"/>
          <p:cNvSpPr/>
          <p:nvPr/>
        </p:nvSpPr>
        <p:spPr>
          <a:xfrm>
            <a:off x="1022350" y="2109391"/>
            <a:ext cx="1935988"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04F14"/>
                </a:solidFill>
                <a:latin typeface="JetBrains Mono" pitchFamily="49" charset="0"/>
                <a:ea typeface="JetBrains Mono" pitchFamily="49" charset="-122"/>
                <a:cs typeface="JetBrains Mono" pitchFamily="49" charset="-120"/>
              </a:rPr>
              <a:t>01</a:t>
            </a:r>
            <a:endParaRPr lang="en-US" sz="1600" dirty="0"/>
          </a:p>
        </p:txBody>
      </p:sp>
      <p:sp>
        <p:nvSpPr>
          <p:cNvPr id="6" name="Text 4"/>
          <p:cNvSpPr/>
          <p:nvPr/>
        </p:nvSpPr>
        <p:spPr>
          <a:xfrm>
            <a:off x="1022350" y="2495451"/>
            <a:ext cx="872232" cy="289520"/>
          </a:xfrm>
          <a:custGeom>
            <a:avLst/>
            <a:gdLst/>
            <a:ahLst/>
            <a:cxnLst/>
            <a:rect l="l" t="t" r="r" b="b"/>
            <a:pathLst>
              <a:path w="872232" h="289520">
                <a:moveTo>
                  <a:pt x="144760" y="0"/>
                </a:moveTo>
                <a:lnTo>
                  <a:pt x="727472" y="0"/>
                </a:lnTo>
                <a:arcTo hR="144760" wR="144760" stAng="16200000" swAng="5400000"/>
                <a:lnTo>
                  <a:pt x="872232" y="144760"/>
                </a:lnTo>
                <a:arcTo hR="144760" wR="144760" stAng="0" swAng="5400000"/>
                <a:lnTo>
                  <a:pt x="144760" y="289520"/>
                </a:lnTo>
                <a:arcTo hR="144760" wR="144760" stAng="5400000" swAng="5400000"/>
                <a:lnTo>
                  <a:pt x="0" y="144760"/>
                </a:lnTo>
                <a:arcTo hR="144760" wR="144760" stAng="10800000" swAng="5400000"/>
                <a:close/>
              </a:path>
            </a:pathLst>
          </a:custGeom>
          <a:solidFill>
            <a:srgbClr val="14202B"/>
          </a:solidFill>
          <a:ln/>
        </p:spPr>
        <p:txBody>
          <a:bodyPr wrap="none" lIns="0" tIns="0" rIns="0" bIns="0" rtlCol="0" anchor="ctr">
            <a:normAutofit/>
          </a:bodyPr>
          <a:lstStyle/>
          <a:p>
            <a:pPr algn="ctr" indent="0" marL="0">
              <a:lnSpc>
                <a:spcPts val="1680"/>
              </a:lnSpc>
              <a:buNone/>
            </a:pPr>
            <a:r>
              <a:rPr lang="en-US" sz="1200" b="1" dirty="0">
                <a:solidFill>
                  <a:srgbClr val="F5F3EE"/>
                </a:solidFill>
                <a:latin typeface="IBM Plex Sans" pitchFamily="34" charset="0"/>
                <a:ea typeface="IBM Plex Sans" pitchFamily="34" charset="-122"/>
                <a:cs typeface="IBM Plex Sans" pitchFamily="34" charset="-120"/>
              </a:rPr>
              <a:t>Recipient</a:t>
            </a:r>
            <a:endParaRPr lang="en-US" sz="1200" dirty="0"/>
          </a:p>
        </p:txBody>
      </p:sp>
      <p:sp>
        <p:nvSpPr>
          <p:cNvPr id="7" name="Text 5"/>
          <p:cNvSpPr/>
          <p:nvPr/>
        </p:nvSpPr>
        <p:spPr>
          <a:xfrm>
            <a:off x="1022350" y="2886571"/>
            <a:ext cx="193598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B"/>
                </a:solidFill>
                <a:latin typeface="IBM Plex Sans" pitchFamily="34" charset="0"/>
                <a:ea typeface="IBM Plex Sans" pitchFamily="34" charset="-122"/>
                <a:cs typeface="IBM Plex Sans" pitchFamily="34" charset="-120"/>
              </a:rPr>
              <a:t>Open the link</a:t>
            </a:r>
            <a:endParaRPr lang="en-US" sz="1800" dirty="0"/>
          </a:p>
        </p:txBody>
      </p:sp>
      <p:sp>
        <p:nvSpPr>
          <p:cNvPr id="8" name="Text 6"/>
          <p:cNvSpPr/>
          <p:nvPr/>
        </p:nvSpPr>
        <p:spPr>
          <a:xfrm>
            <a:off x="1022350" y="3262412"/>
            <a:ext cx="1158280" cy="314920"/>
          </a:xfrm>
          <a:prstGeom prst="roundRect">
            <a:avLst>
              <a:gd name="adj" fmla="val 16131"/>
            </a:avLst>
          </a:prstGeom>
          <a:solidFill>
            <a:srgbClr val="ECE7DD"/>
          </a:solidFill>
          <a:ln/>
        </p:spPr>
        <p:txBody>
          <a:bodyPr wrap="none" lIns="0" tIns="0" rIns="0" bIns="0" rtlCol="0" anchor="ctr">
            <a:normAutofit/>
          </a:bodyPr>
          <a:lstStyle/>
          <a:p>
            <a:pPr algn="ctr" indent="0" marL="0">
              <a:lnSpc>
                <a:spcPts val="1680"/>
              </a:lnSpc>
              <a:buNone/>
            </a:pPr>
            <a:r>
              <a:rPr lang="en-US" sz="1200" dirty="0">
                <a:solidFill>
                  <a:srgbClr val="14202B"/>
                </a:solidFill>
                <a:latin typeface="JetBrains Mono" pitchFamily="49" charset="0"/>
                <a:ea typeface="JetBrains Mono" pitchFamily="49" charset="-122"/>
                <a:cs typeface="JetBrains Mono" pitchFamily="49" charset="-120"/>
              </a:rPr>
              <a:t>GET /s/&lt;id&gt;</a:t>
            </a:r>
            <a:endParaRPr lang="en-US" sz="1200" dirty="0"/>
          </a:p>
        </p:txBody>
      </p:sp>
      <p:sp>
        <p:nvSpPr>
          <p:cNvPr id="9" name="Text 7"/>
          <p:cNvSpPr/>
          <p:nvPr/>
        </p:nvSpPr>
        <p:spPr>
          <a:xfrm>
            <a:off x="1022350" y="3678932"/>
            <a:ext cx="1935988"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Opens the share page and types the secret code.</a:t>
            </a:r>
            <a:endParaRPr lang="en-US" sz="1400" dirty="0"/>
          </a:p>
        </p:txBody>
      </p:sp>
      <p:pic>
        <p:nvPicPr>
          <p:cNvPr id="10" name="Image 0" descr="arrow-right">    </p:cNvPr>
          <p:cNvPicPr>
            <a:picLocks noChangeAspect="1"/>
          </p:cNvPicPr>
          <p:nvPr/>
        </p:nvPicPr>
        <p:blipFill>
          <a:blip r:embed="rId1"/>
          <a:srcRect l="0" r="0" t="0" b="0"/>
          <a:stretch/>
        </p:blipFill>
        <p:spPr>
          <a:xfrm>
            <a:off x="3213100" y="3315593"/>
            <a:ext cx="254000" cy="152400"/>
          </a:xfrm>
          <a:prstGeom prst="rect">
            <a:avLst/>
          </a:prstGeom>
        </p:spPr>
      </p:pic>
      <p:sp>
        <p:nvSpPr>
          <p:cNvPr id="11" name="Shape 8"/>
          <p:cNvSpPr/>
          <p:nvPr/>
        </p:nvSpPr>
        <p:spPr>
          <a:xfrm>
            <a:off x="3571875" y="1903016"/>
            <a:ext cx="2292350" cy="2977654"/>
          </a:xfrm>
          <a:prstGeom prst="roundRect">
            <a:avLst>
              <a:gd name="adj" fmla="val 4294"/>
            </a:avLst>
          </a:prstGeom>
          <a:solidFill>
            <a:srgbClr val="FFFDF8"/>
          </a:solidFill>
          <a:ln w="6350">
            <a:solidFill>
              <a:srgbClr val="DDD8CC"/>
            </a:solidFill>
            <a:prstDash val="solid"/>
          </a:ln>
        </p:spPr>
      </p:sp>
      <p:sp>
        <p:nvSpPr>
          <p:cNvPr id="12" name="Text 9"/>
          <p:cNvSpPr/>
          <p:nvPr/>
        </p:nvSpPr>
        <p:spPr>
          <a:xfrm>
            <a:off x="3778250" y="2109391"/>
            <a:ext cx="1935988"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04F14"/>
                </a:solidFill>
                <a:latin typeface="JetBrains Mono" pitchFamily="49" charset="0"/>
                <a:ea typeface="JetBrains Mono" pitchFamily="49" charset="-122"/>
                <a:cs typeface="JetBrains Mono" pitchFamily="49" charset="-120"/>
              </a:rPr>
              <a:t>02</a:t>
            </a:r>
            <a:endParaRPr lang="en-US" sz="1600" dirty="0"/>
          </a:p>
        </p:txBody>
      </p:sp>
      <p:sp>
        <p:nvSpPr>
          <p:cNvPr id="13" name="Text 10"/>
          <p:cNvSpPr/>
          <p:nvPr/>
        </p:nvSpPr>
        <p:spPr>
          <a:xfrm>
            <a:off x="3778250" y="2495451"/>
            <a:ext cx="1629966" cy="289520"/>
          </a:xfrm>
          <a:custGeom>
            <a:avLst/>
            <a:gdLst/>
            <a:ahLst/>
            <a:cxnLst/>
            <a:rect l="l" t="t" r="r" b="b"/>
            <a:pathLst>
              <a:path w="1629966" h="289520">
                <a:moveTo>
                  <a:pt x="144760" y="0"/>
                </a:moveTo>
                <a:lnTo>
                  <a:pt x="1485205" y="0"/>
                </a:lnTo>
                <a:arcTo hR="144760" wR="144760" stAng="16200000" swAng="5400000"/>
                <a:lnTo>
                  <a:pt x="1629966" y="144760"/>
                </a:lnTo>
                <a:arcTo hR="144760" wR="144760" stAng="0" swAng="5400000"/>
                <a:lnTo>
                  <a:pt x="144760" y="289520"/>
                </a:lnTo>
                <a:arcTo hR="144760" wR="144760" stAng="5400000" swAng="5400000"/>
                <a:lnTo>
                  <a:pt x="0" y="144760"/>
                </a:lnTo>
                <a:arcTo hR="144760" wR="144760" stAng="10800000" swAng="5400000"/>
                <a:close/>
              </a:path>
            </a:pathLst>
          </a:custGeom>
          <a:solidFill>
            <a:srgbClr val="14202B"/>
          </a:solidFill>
          <a:ln/>
        </p:spPr>
        <p:txBody>
          <a:bodyPr wrap="none" lIns="0" tIns="0" rIns="0" bIns="0" rtlCol="0" anchor="ctr">
            <a:normAutofit/>
          </a:bodyPr>
          <a:lstStyle/>
          <a:p>
            <a:pPr algn="ctr" indent="0" marL="0">
              <a:lnSpc>
                <a:spcPts val="1680"/>
              </a:lnSpc>
              <a:buNone/>
            </a:pPr>
            <a:r>
              <a:rPr lang="en-US" sz="1200" b="1" dirty="0">
                <a:solidFill>
                  <a:srgbClr val="F5F3EE"/>
                </a:solidFill>
                <a:latin typeface="IBM Plex Sans" pitchFamily="34" charset="0"/>
                <a:ea typeface="IBM Plex Sans" pitchFamily="34" charset="-122"/>
                <a:cs typeface="IBM Plex Sans" pitchFamily="34" charset="-120"/>
              </a:rPr>
              <a:t>Browser → Backend</a:t>
            </a:r>
            <a:endParaRPr lang="en-US" sz="1200" dirty="0"/>
          </a:p>
        </p:txBody>
      </p:sp>
      <p:sp>
        <p:nvSpPr>
          <p:cNvPr id="14" name="Text 11"/>
          <p:cNvSpPr/>
          <p:nvPr/>
        </p:nvSpPr>
        <p:spPr>
          <a:xfrm>
            <a:off x="3778250" y="2886571"/>
            <a:ext cx="193598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B"/>
                </a:solidFill>
                <a:latin typeface="IBM Plex Sans" pitchFamily="34" charset="0"/>
                <a:ea typeface="IBM Plex Sans" pitchFamily="34" charset="-122"/>
                <a:cs typeface="IBM Plex Sans" pitchFamily="34" charset="-120"/>
              </a:rPr>
              <a:t>Send the code</a:t>
            </a:r>
            <a:endParaRPr lang="en-US" sz="1800" dirty="0"/>
          </a:p>
        </p:txBody>
      </p:sp>
      <p:sp>
        <p:nvSpPr>
          <p:cNvPr id="15" name="Text 12"/>
          <p:cNvSpPr/>
          <p:nvPr/>
        </p:nvSpPr>
        <p:spPr>
          <a:xfrm>
            <a:off x="3778250" y="3262412"/>
            <a:ext cx="1706959" cy="528241"/>
          </a:xfrm>
          <a:prstGeom prst="roundRect">
            <a:avLst>
              <a:gd name="adj" fmla="val 9617"/>
            </a:avLst>
          </a:prstGeom>
          <a:solidFill>
            <a:srgbClr val="ECE7DD"/>
          </a:solidFill>
          <a:ln/>
        </p:spPr>
        <p:txBody>
          <a:bodyPr wrap="square" lIns="61321" tIns="35921" rIns="10521" bIns="10521" rtlCol="0" anchor="t">
            <a:normAutofit/>
          </a:bodyPr>
          <a:lstStyle/>
          <a:p>
            <a:pPr algn="l" indent="0" marL="0">
              <a:lnSpc>
                <a:spcPts val="1680"/>
              </a:lnSpc>
              <a:buNone/>
            </a:pPr>
            <a:r>
              <a:rPr lang="en-US" sz="1200" dirty="0">
                <a:solidFill>
                  <a:srgbClr val="14202B"/>
                </a:solidFill>
                <a:latin typeface="JetBrains Mono" pitchFamily="49" charset="0"/>
                <a:ea typeface="JetBrains Mono" pitchFamily="49" charset="-122"/>
                <a:cs typeface="JetBrains Mono" pitchFamily="49" charset="-120"/>
              </a:rPr>
              <a:t>POST /api/shares/</a:t>
            </a:r>
            <a:endParaRPr lang="en-US" sz="1200" dirty="0"/>
          </a:p>
          <a:p>
            <a:pPr algn="l" indent="0" marL="0">
              <a:lnSpc>
                <a:spcPts val="1680"/>
              </a:lnSpc>
              <a:buNone/>
            </a:pPr>
            <a:r>
              <a:rPr lang="en-US" sz="1200" dirty="0">
                <a:solidFill>
                  <a:srgbClr val="14202B"/>
                </a:solidFill>
                <a:latin typeface="JetBrains Mono" pitchFamily="49" charset="0"/>
                <a:ea typeface="JetBrains Mono" pitchFamily="49" charset="-122"/>
                <a:cs typeface="JetBrains Mono" pitchFamily="49" charset="-120"/>
              </a:rPr>
              <a:t>&lt;id&gt;/access</a:t>
            </a:r>
            <a:endParaRPr lang="en-US" sz="1200" dirty="0"/>
          </a:p>
        </p:txBody>
      </p:sp>
      <p:sp>
        <p:nvSpPr>
          <p:cNvPr id="16" name="Text 13"/>
          <p:cNvSpPr/>
          <p:nvPr/>
        </p:nvSpPr>
        <p:spPr>
          <a:xfrm>
            <a:off x="3778250" y="3892252"/>
            <a:ext cx="193598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Posts { code } for this share ID.</a:t>
            </a:r>
            <a:endParaRPr lang="en-US" sz="1400" dirty="0"/>
          </a:p>
        </p:txBody>
      </p:sp>
      <p:pic>
        <p:nvPicPr>
          <p:cNvPr id="17" name="Image 1" descr="arrow-right">    </p:cNvPr>
          <p:cNvPicPr>
            <a:picLocks noChangeAspect="1"/>
          </p:cNvPicPr>
          <p:nvPr/>
        </p:nvPicPr>
        <p:blipFill>
          <a:blip r:embed="rId2"/>
          <a:srcRect l="0" r="0" t="0" b="0"/>
          <a:stretch/>
        </p:blipFill>
        <p:spPr>
          <a:xfrm>
            <a:off x="5969000" y="3315593"/>
            <a:ext cx="254000" cy="152400"/>
          </a:xfrm>
          <a:prstGeom prst="rect">
            <a:avLst/>
          </a:prstGeom>
        </p:spPr>
      </p:pic>
      <p:sp>
        <p:nvSpPr>
          <p:cNvPr id="18" name="Shape 14"/>
          <p:cNvSpPr/>
          <p:nvPr/>
        </p:nvSpPr>
        <p:spPr>
          <a:xfrm>
            <a:off x="6327775" y="1903016"/>
            <a:ext cx="2292350" cy="2977654"/>
          </a:xfrm>
          <a:prstGeom prst="roundRect">
            <a:avLst>
              <a:gd name="adj" fmla="val 4294"/>
            </a:avLst>
          </a:prstGeom>
          <a:solidFill>
            <a:srgbClr val="FFFDF8"/>
          </a:solidFill>
          <a:ln w="6350">
            <a:solidFill>
              <a:srgbClr val="DDD8CC"/>
            </a:solidFill>
            <a:prstDash val="solid"/>
          </a:ln>
        </p:spPr>
      </p:sp>
      <p:sp>
        <p:nvSpPr>
          <p:cNvPr id="19" name="Text 15"/>
          <p:cNvSpPr/>
          <p:nvPr/>
        </p:nvSpPr>
        <p:spPr>
          <a:xfrm>
            <a:off x="6534150" y="2109391"/>
            <a:ext cx="1935988"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04F14"/>
                </a:solidFill>
                <a:latin typeface="JetBrains Mono" pitchFamily="49" charset="0"/>
                <a:ea typeface="JetBrains Mono" pitchFamily="49" charset="-122"/>
                <a:cs typeface="JetBrains Mono" pitchFamily="49" charset="-120"/>
              </a:rPr>
              <a:t>03</a:t>
            </a:r>
            <a:endParaRPr lang="en-US" sz="1600" dirty="0"/>
          </a:p>
        </p:txBody>
      </p:sp>
      <p:sp>
        <p:nvSpPr>
          <p:cNvPr id="20" name="Text 16"/>
          <p:cNvSpPr/>
          <p:nvPr/>
        </p:nvSpPr>
        <p:spPr>
          <a:xfrm>
            <a:off x="6534150" y="2495451"/>
            <a:ext cx="815677" cy="289520"/>
          </a:xfrm>
          <a:custGeom>
            <a:avLst/>
            <a:gdLst/>
            <a:ahLst/>
            <a:cxnLst/>
            <a:rect l="l" t="t" r="r" b="b"/>
            <a:pathLst>
              <a:path w="815677" h="289520">
                <a:moveTo>
                  <a:pt x="144760" y="0"/>
                </a:moveTo>
                <a:lnTo>
                  <a:pt x="670917" y="0"/>
                </a:lnTo>
                <a:arcTo hR="144760" wR="144760" stAng="16200000" swAng="5400000"/>
                <a:lnTo>
                  <a:pt x="815677" y="144760"/>
                </a:lnTo>
                <a:arcTo hR="144760" wR="144760" stAng="0" swAng="5400000"/>
                <a:lnTo>
                  <a:pt x="144760" y="289520"/>
                </a:lnTo>
                <a:arcTo hR="144760" wR="144760" stAng="5400000" swAng="5400000"/>
                <a:lnTo>
                  <a:pt x="0" y="144760"/>
                </a:lnTo>
                <a:arcTo hR="144760" wR="144760" stAng="10800000" swAng="5400000"/>
                <a:close/>
              </a:path>
            </a:pathLst>
          </a:custGeom>
          <a:solidFill>
            <a:srgbClr val="14202B"/>
          </a:solidFill>
          <a:ln/>
        </p:spPr>
        <p:txBody>
          <a:bodyPr wrap="none" lIns="0" tIns="0" rIns="0" bIns="0" rtlCol="0" anchor="ctr">
            <a:normAutofit/>
          </a:bodyPr>
          <a:lstStyle/>
          <a:p>
            <a:pPr algn="ctr" indent="0" marL="0">
              <a:lnSpc>
                <a:spcPts val="1680"/>
              </a:lnSpc>
              <a:buNone/>
            </a:pPr>
            <a:r>
              <a:rPr lang="en-US" sz="1200" b="1" dirty="0">
                <a:solidFill>
                  <a:srgbClr val="F5F3EE"/>
                </a:solidFill>
                <a:latin typeface="IBM Plex Sans" pitchFamily="34" charset="0"/>
                <a:ea typeface="IBM Plex Sans" pitchFamily="34" charset="-122"/>
                <a:cs typeface="IBM Plex Sans" pitchFamily="34" charset="-120"/>
              </a:rPr>
              <a:t>Backend</a:t>
            </a:r>
            <a:endParaRPr lang="en-US" sz="1200" dirty="0"/>
          </a:p>
        </p:txBody>
      </p:sp>
      <p:sp>
        <p:nvSpPr>
          <p:cNvPr id="21" name="Text 17"/>
          <p:cNvSpPr/>
          <p:nvPr/>
        </p:nvSpPr>
        <p:spPr>
          <a:xfrm>
            <a:off x="6534150" y="2886571"/>
            <a:ext cx="208280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B"/>
                </a:solidFill>
                <a:latin typeface="IBM Plex Sans" pitchFamily="34" charset="0"/>
                <a:ea typeface="IBM Plex Sans" pitchFamily="34" charset="-122"/>
                <a:cs typeface="IBM Plex Sans" pitchFamily="34" charset="-120"/>
              </a:rPr>
              <a:t>Check everything</a:t>
            </a:r>
            <a:endParaRPr lang="en-US" sz="1800" dirty="0"/>
          </a:p>
        </p:txBody>
      </p:sp>
      <p:sp>
        <p:nvSpPr>
          <p:cNvPr id="22" name="Text 18"/>
          <p:cNvSpPr/>
          <p:nvPr/>
        </p:nvSpPr>
        <p:spPr>
          <a:xfrm>
            <a:off x="6534150" y="3262412"/>
            <a:ext cx="1066800" cy="314920"/>
          </a:xfrm>
          <a:prstGeom prst="roundRect">
            <a:avLst>
              <a:gd name="adj" fmla="val 16131"/>
            </a:avLst>
          </a:prstGeom>
          <a:solidFill>
            <a:srgbClr val="ECE7DD"/>
          </a:solidFill>
          <a:ln/>
        </p:spPr>
        <p:txBody>
          <a:bodyPr wrap="none" lIns="0" tIns="0" rIns="0" bIns="0" rtlCol="0" anchor="ctr">
            <a:normAutofit/>
          </a:bodyPr>
          <a:lstStyle/>
          <a:p>
            <a:pPr algn="ctr" indent="0" marL="0">
              <a:lnSpc>
                <a:spcPts val="1680"/>
              </a:lnSpc>
              <a:buNone/>
            </a:pPr>
            <a:r>
              <a:rPr lang="en-US" sz="1200" dirty="0">
                <a:solidFill>
                  <a:srgbClr val="14202B"/>
                </a:solidFill>
                <a:latin typeface="JetBrains Mono" pitchFamily="49" charset="0"/>
                <a:ea typeface="JetBrains Mono" pitchFamily="49" charset="-122"/>
                <a:cs typeface="JetBrains Mono" pitchFamily="49" charset="-120"/>
              </a:rPr>
              <a:t>HeadObject</a:t>
            </a:r>
            <a:endParaRPr lang="en-US" sz="1200" dirty="0"/>
          </a:p>
        </p:txBody>
      </p:sp>
      <p:sp>
        <p:nvSpPr>
          <p:cNvPr id="23" name="Text 19"/>
          <p:cNvSpPr/>
          <p:nvPr/>
        </p:nvSpPr>
        <p:spPr>
          <a:xfrm>
            <a:off x="6534150" y="3678932"/>
            <a:ext cx="1935988"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Link exists, not expired, not locked, code correct, and the file is really in S3.</a:t>
            </a:r>
            <a:endParaRPr lang="en-US" sz="1400" dirty="0"/>
          </a:p>
        </p:txBody>
      </p:sp>
      <p:pic>
        <p:nvPicPr>
          <p:cNvPr id="24" name="Image 2" descr="arrow-right">    </p:cNvPr>
          <p:cNvPicPr>
            <a:picLocks noChangeAspect="1"/>
          </p:cNvPicPr>
          <p:nvPr/>
        </p:nvPicPr>
        <p:blipFill>
          <a:blip r:embed="rId3"/>
          <a:srcRect l="0" r="0" t="0" b="0"/>
          <a:stretch/>
        </p:blipFill>
        <p:spPr>
          <a:xfrm>
            <a:off x="8724900" y="3315593"/>
            <a:ext cx="254000" cy="152400"/>
          </a:xfrm>
          <a:prstGeom prst="rect">
            <a:avLst/>
          </a:prstGeom>
        </p:spPr>
      </p:pic>
      <p:sp>
        <p:nvSpPr>
          <p:cNvPr id="25" name="Shape 20"/>
          <p:cNvSpPr/>
          <p:nvPr/>
        </p:nvSpPr>
        <p:spPr>
          <a:xfrm>
            <a:off x="9083675" y="1903016"/>
            <a:ext cx="2292350" cy="2977654"/>
          </a:xfrm>
          <a:prstGeom prst="roundRect">
            <a:avLst>
              <a:gd name="adj" fmla="val 4294"/>
            </a:avLst>
          </a:prstGeom>
          <a:solidFill>
            <a:srgbClr val="FFFDF8"/>
          </a:solidFill>
          <a:ln w="6350">
            <a:solidFill>
              <a:srgbClr val="DDD8CC"/>
            </a:solidFill>
            <a:prstDash val="solid"/>
          </a:ln>
        </p:spPr>
      </p:sp>
      <p:sp>
        <p:nvSpPr>
          <p:cNvPr id="26" name="Text 21"/>
          <p:cNvSpPr/>
          <p:nvPr/>
        </p:nvSpPr>
        <p:spPr>
          <a:xfrm>
            <a:off x="9290050" y="2109391"/>
            <a:ext cx="1935988"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04F14"/>
                </a:solidFill>
                <a:latin typeface="JetBrains Mono" pitchFamily="49" charset="0"/>
                <a:ea typeface="JetBrains Mono" pitchFamily="49" charset="-122"/>
                <a:cs typeface="JetBrains Mono" pitchFamily="49" charset="-120"/>
              </a:rPr>
              <a:t>04</a:t>
            </a:r>
            <a:endParaRPr lang="en-US" sz="1600" dirty="0"/>
          </a:p>
        </p:txBody>
      </p:sp>
      <p:sp>
        <p:nvSpPr>
          <p:cNvPr id="27" name="Text 22"/>
          <p:cNvSpPr/>
          <p:nvPr/>
        </p:nvSpPr>
        <p:spPr>
          <a:xfrm>
            <a:off x="9290050" y="2495451"/>
            <a:ext cx="1629966" cy="289520"/>
          </a:xfrm>
          <a:custGeom>
            <a:avLst/>
            <a:gdLst/>
            <a:ahLst/>
            <a:cxnLst/>
            <a:rect l="l" t="t" r="r" b="b"/>
            <a:pathLst>
              <a:path w="1629966" h="289520">
                <a:moveTo>
                  <a:pt x="144760" y="0"/>
                </a:moveTo>
                <a:lnTo>
                  <a:pt x="1485205" y="0"/>
                </a:lnTo>
                <a:arcTo hR="144760" wR="144760" stAng="16200000" swAng="5400000"/>
                <a:lnTo>
                  <a:pt x="1629966" y="144760"/>
                </a:lnTo>
                <a:arcTo hR="144760" wR="144760" stAng="0" swAng="5400000"/>
                <a:lnTo>
                  <a:pt x="144760" y="289520"/>
                </a:lnTo>
                <a:arcTo hR="144760" wR="144760" stAng="5400000" swAng="5400000"/>
                <a:lnTo>
                  <a:pt x="0" y="144760"/>
                </a:lnTo>
                <a:arcTo hR="144760" wR="144760" stAng="10800000" swAng="5400000"/>
                <a:close/>
              </a:path>
            </a:pathLst>
          </a:custGeom>
          <a:solidFill>
            <a:srgbClr val="14202B"/>
          </a:solidFill>
          <a:ln/>
        </p:spPr>
        <p:txBody>
          <a:bodyPr wrap="none" lIns="0" tIns="0" rIns="0" bIns="0" rtlCol="0" anchor="ctr">
            <a:normAutofit/>
          </a:bodyPr>
          <a:lstStyle/>
          <a:p>
            <a:pPr algn="ctr" indent="0" marL="0">
              <a:lnSpc>
                <a:spcPts val="1680"/>
              </a:lnSpc>
              <a:buNone/>
            </a:pPr>
            <a:r>
              <a:rPr lang="en-US" sz="1200" b="1" dirty="0">
                <a:solidFill>
                  <a:srgbClr val="F5F3EE"/>
                </a:solidFill>
                <a:latin typeface="IBM Plex Sans" pitchFamily="34" charset="0"/>
                <a:ea typeface="IBM Plex Sans" pitchFamily="34" charset="-122"/>
                <a:cs typeface="IBM Plex Sans" pitchFamily="34" charset="-120"/>
              </a:rPr>
              <a:t>Backend → Browser</a:t>
            </a:r>
            <a:endParaRPr lang="en-US" sz="1200" dirty="0"/>
          </a:p>
        </p:txBody>
      </p:sp>
      <p:sp>
        <p:nvSpPr>
          <p:cNvPr id="28" name="Text 23"/>
          <p:cNvSpPr/>
          <p:nvPr/>
        </p:nvSpPr>
        <p:spPr>
          <a:xfrm>
            <a:off x="9290050" y="2886571"/>
            <a:ext cx="193598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B"/>
                </a:solidFill>
                <a:latin typeface="IBM Plex Sans" pitchFamily="34" charset="0"/>
                <a:ea typeface="IBM Plex Sans" pitchFamily="34" charset="-122"/>
                <a:cs typeface="IBM Plex Sans" pitchFamily="34" charset="-120"/>
              </a:rPr>
              <a:t>Download</a:t>
            </a:r>
            <a:endParaRPr lang="en-US" sz="1800" dirty="0"/>
          </a:p>
        </p:txBody>
      </p:sp>
      <p:sp>
        <p:nvSpPr>
          <p:cNvPr id="29" name="Text 24"/>
          <p:cNvSpPr/>
          <p:nvPr/>
        </p:nvSpPr>
        <p:spPr>
          <a:xfrm>
            <a:off x="9290050" y="3262412"/>
            <a:ext cx="1432620" cy="314920"/>
          </a:xfrm>
          <a:prstGeom prst="roundRect">
            <a:avLst>
              <a:gd name="adj" fmla="val 16131"/>
            </a:avLst>
          </a:prstGeom>
          <a:solidFill>
            <a:srgbClr val="ECE7DD"/>
          </a:solidFill>
          <a:ln/>
        </p:spPr>
        <p:txBody>
          <a:bodyPr wrap="none" lIns="0" tIns="0" rIns="0" bIns="0" rtlCol="0" anchor="ctr">
            <a:normAutofit/>
          </a:bodyPr>
          <a:lstStyle/>
          <a:p>
            <a:pPr algn="ctr" indent="0" marL="0">
              <a:lnSpc>
                <a:spcPts val="1680"/>
              </a:lnSpc>
              <a:buNone/>
            </a:pPr>
            <a:r>
              <a:rPr lang="en-US" sz="1200" dirty="0">
                <a:solidFill>
                  <a:srgbClr val="14202B"/>
                </a:solidFill>
                <a:latin typeface="JetBrains Mono" pitchFamily="49" charset="0"/>
                <a:ea typeface="JetBrains Mono" pitchFamily="49" charset="-122"/>
                <a:cs typeface="JetBrains Mono" pitchFamily="49" charset="-120"/>
              </a:rPr>
              <a:t>GET · 60 s URL</a:t>
            </a:r>
            <a:endParaRPr lang="en-US" sz="1200" dirty="0"/>
          </a:p>
        </p:txBody>
      </p:sp>
      <p:sp>
        <p:nvSpPr>
          <p:cNvPr id="30" name="Text 25"/>
          <p:cNvSpPr/>
          <p:nvPr/>
        </p:nvSpPr>
        <p:spPr>
          <a:xfrm>
            <a:off x="9290050" y="3678932"/>
            <a:ext cx="1935988"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Returns a presigned GET URL valid for 60 seconds; the browser follows it.</a:t>
            </a:r>
            <a:endParaRPr lang="en-US" sz="1400" dirty="0"/>
          </a:p>
        </p:txBody>
      </p:sp>
      <p:sp>
        <p:nvSpPr>
          <p:cNvPr id="31" name="Text 26"/>
          <p:cNvSpPr/>
          <p:nvPr/>
        </p:nvSpPr>
        <p:spPr>
          <a:xfrm>
            <a:off x="812800" y="6238280"/>
            <a:ext cx="34882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TempShare · S3 presigned URLs practicum</a:t>
            </a:r>
            <a:endParaRPr lang="en-US" sz="1200" dirty="0"/>
          </a:p>
        </p:txBody>
      </p:sp>
      <p:sp>
        <p:nvSpPr>
          <p:cNvPr id="32" name="Text 27"/>
          <p:cNvSpPr/>
          <p:nvPr/>
        </p:nvSpPr>
        <p:spPr>
          <a:xfrm>
            <a:off x="11145441" y="62382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F14"/>
                </a:solidFill>
                <a:latin typeface="IBM Plex Sans" pitchFamily="34" charset="0"/>
                <a:ea typeface="IBM Plex Sans" pitchFamily="34" charset="-122"/>
                <a:cs typeface="IBM Plex Sans" pitchFamily="34" charset="-120"/>
              </a:rPr>
              <a:t>1.4 EXPIRY</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IBM Plex Sans" pitchFamily="34" charset="0"/>
                <a:ea typeface="IBM Plex Sans" pitchFamily="34" charset="-122"/>
                <a:cs typeface="IBM Plex Sans" pitchFamily="34" charset="-120"/>
              </a:rPr>
              <a:t>Two layers of 1-day expiry</a:t>
            </a:r>
            <a:endParaRPr lang="en-US" sz="3200" dirty="0"/>
          </a:p>
        </p:txBody>
      </p:sp>
      <p:sp>
        <p:nvSpPr>
          <p:cNvPr id="4" name="Shape 2"/>
          <p:cNvSpPr/>
          <p:nvPr/>
        </p:nvSpPr>
        <p:spPr>
          <a:xfrm>
            <a:off x="812800" y="1849041"/>
            <a:ext cx="5175250" cy="2963664"/>
          </a:xfrm>
          <a:prstGeom prst="roundRect">
            <a:avLst>
              <a:gd name="adj" fmla="val 3428"/>
            </a:avLst>
          </a:prstGeom>
          <a:solidFill>
            <a:srgbClr val="14202B"/>
          </a:solidFill>
          <a:ln/>
        </p:spPr>
      </p:sp>
      <p:sp>
        <p:nvSpPr>
          <p:cNvPr id="5" name="Text 3"/>
          <p:cNvSpPr/>
          <p:nvPr/>
        </p:nvSpPr>
        <p:spPr>
          <a:xfrm>
            <a:off x="1066800" y="2103041"/>
            <a:ext cx="480726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3EE"/>
                </a:solidFill>
                <a:latin typeface="IBM Plex Sans" pitchFamily="34" charset="0"/>
                <a:ea typeface="IBM Plex Sans" pitchFamily="34" charset="-122"/>
                <a:cs typeface="IBM Plex Sans" pitchFamily="34" charset="-120"/>
              </a:rPr>
              <a:t>Storage layer · S3 lifecycle rule</a:t>
            </a:r>
            <a:endParaRPr lang="en-US" sz="1800" dirty="0"/>
          </a:p>
        </p:txBody>
      </p:sp>
      <p:sp>
        <p:nvSpPr>
          <p:cNvPr id="6" name="Text 4"/>
          <p:cNvSpPr/>
          <p:nvPr/>
        </p:nvSpPr>
        <p:spPr>
          <a:xfrm>
            <a:off x="1066800" y="2529681"/>
            <a:ext cx="480726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A35E"/>
                </a:solidFill>
                <a:latin typeface="IBM Plex Sans" pitchFamily="34" charset="0"/>
                <a:ea typeface="IBM Plex Sans" pitchFamily="34" charset="-122"/>
                <a:cs typeface="IBM Plex Sans" pitchFamily="34" charset="-120"/>
              </a:rPr>
              <a:t>MECHANISM</a:t>
            </a:r>
            <a:endParaRPr lang="en-US" sz="1200" dirty="0"/>
          </a:p>
        </p:txBody>
      </p:sp>
      <p:sp>
        <p:nvSpPr>
          <p:cNvPr id="7" name="Text 5"/>
          <p:cNvSpPr/>
          <p:nvPr/>
        </p:nvSpPr>
        <p:spPr>
          <a:xfrm>
            <a:off x="1066800" y="2768402"/>
            <a:ext cx="480726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5DDE4"/>
                </a:solidFill>
                <a:latin typeface="IBM Plex Sans" pitchFamily="34" charset="0"/>
                <a:ea typeface="IBM Plex Sans" pitchFamily="34" charset="-122"/>
                <a:cs typeface="IBM Plex Sans" pitchFamily="34" charset="-120"/>
              </a:rPr>
              <a:t>Expire objects in uploads/ 1 day after creation.</a:t>
            </a:r>
            <a:endParaRPr lang="en-US" sz="1400" dirty="0"/>
          </a:p>
        </p:txBody>
      </p:sp>
      <p:sp>
        <p:nvSpPr>
          <p:cNvPr id="8" name="Text 6"/>
          <p:cNvSpPr/>
          <p:nvPr/>
        </p:nvSpPr>
        <p:spPr>
          <a:xfrm>
            <a:off x="1066800" y="3169642"/>
            <a:ext cx="480726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A35E"/>
                </a:solidFill>
                <a:latin typeface="IBM Plex Sans" pitchFamily="34" charset="0"/>
                <a:ea typeface="IBM Plex Sans" pitchFamily="34" charset="-122"/>
                <a:cs typeface="IBM Plex Sans" pitchFamily="34" charset="-120"/>
              </a:rPr>
              <a:t>STRENGTH</a:t>
            </a:r>
            <a:endParaRPr lang="en-US" sz="1200" dirty="0"/>
          </a:p>
        </p:txBody>
      </p:sp>
      <p:sp>
        <p:nvSpPr>
          <p:cNvPr id="9" name="Text 7"/>
          <p:cNvSpPr/>
          <p:nvPr/>
        </p:nvSpPr>
        <p:spPr>
          <a:xfrm>
            <a:off x="1066800" y="3408363"/>
            <a:ext cx="480726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5DDE4"/>
                </a:solidFill>
                <a:latin typeface="IBM Plex Sans" pitchFamily="34" charset="0"/>
                <a:ea typeface="IBM Plex Sans" pitchFamily="34" charset="-122"/>
                <a:cs typeface="IBM Plex Sans" pitchFamily="34" charset="-120"/>
              </a:rPr>
              <a:t>Actually deletes the data, even if your backend is down.</a:t>
            </a:r>
            <a:endParaRPr lang="en-US" sz="1400" dirty="0"/>
          </a:p>
        </p:txBody>
      </p:sp>
      <p:sp>
        <p:nvSpPr>
          <p:cNvPr id="10" name="Text 8"/>
          <p:cNvSpPr/>
          <p:nvPr/>
        </p:nvSpPr>
        <p:spPr>
          <a:xfrm>
            <a:off x="1066800" y="3809603"/>
            <a:ext cx="480726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A35E"/>
                </a:solidFill>
                <a:latin typeface="IBM Plex Sans" pitchFamily="34" charset="0"/>
                <a:ea typeface="IBM Plex Sans" pitchFamily="34" charset="-122"/>
                <a:cs typeface="IBM Plex Sans" pitchFamily="34" charset="-120"/>
              </a:rPr>
              <a:t>WEAKNESS</a:t>
            </a:r>
            <a:endParaRPr lang="en-US" sz="1200" dirty="0"/>
          </a:p>
        </p:txBody>
      </p:sp>
      <p:sp>
        <p:nvSpPr>
          <p:cNvPr id="11" name="Text 9"/>
          <p:cNvSpPr/>
          <p:nvPr/>
        </p:nvSpPr>
        <p:spPr>
          <a:xfrm>
            <a:off x="1066800" y="4048323"/>
            <a:ext cx="480726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5DDE4"/>
                </a:solidFill>
                <a:latin typeface="IBM Plex Sans" pitchFamily="34" charset="0"/>
                <a:ea typeface="IBM Plex Sans" pitchFamily="34" charset="-122"/>
                <a:cs typeface="IBM Plex Sans" pitchFamily="34" charset="-120"/>
              </a:rPr>
              <a:t>Runs on day boundaries (midnight UTC), so an object can live up to about 48 hours. Deletion is asynchronous.</a:t>
            </a:r>
            <a:endParaRPr lang="en-US" sz="1400" dirty="0"/>
          </a:p>
        </p:txBody>
      </p:sp>
      <p:sp>
        <p:nvSpPr>
          <p:cNvPr id="12" name="Shape 10"/>
          <p:cNvSpPr/>
          <p:nvPr/>
        </p:nvSpPr>
        <p:spPr>
          <a:xfrm>
            <a:off x="6194425" y="1852216"/>
            <a:ext cx="5181600" cy="2957314"/>
          </a:xfrm>
          <a:prstGeom prst="roundRect">
            <a:avLst>
              <a:gd name="adj" fmla="val 3328"/>
            </a:avLst>
          </a:prstGeom>
          <a:solidFill>
            <a:srgbClr val="FFFDF8"/>
          </a:solidFill>
          <a:ln w="6350">
            <a:solidFill>
              <a:srgbClr val="DDD8CC"/>
            </a:solidFill>
            <a:prstDash val="solid"/>
          </a:ln>
        </p:spPr>
      </p:sp>
      <p:sp>
        <p:nvSpPr>
          <p:cNvPr id="13" name="Text 11"/>
          <p:cNvSpPr/>
          <p:nvPr/>
        </p:nvSpPr>
        <p:spPr>
          <a:xfrm>
            <a:off x="6451600" y="2109391"/>
            <a:ext cx="480726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B"/>
                </a:solidFill>
                <a:latin typeface="IBM Plex Sans" pitchFamily="34" charset="0"/>
                <a:ea typeface="IBM Plex Sans" pitchFamily="34" charset="-122"/>
                <a:cs typeface="IBM Plex Sans" pitchFamily="34" charset="-120"/>
              </a:rPr>
              <a:t>Link layer · backend expiresAt</a:t>
            </a:r>
            <a:endParaRPr lang="en-US" sz="1800" dirty="0"/>
          </a:p>
        </p:txBody>
      </p:sp>
      <p:sp>
        <p:nvSpPr>
          <p:cNvPr id="14" name="Text 12"/>
          <p:cNvSpPr/>
          <p:nvPr/>
        </p:nvSpPr>
        <p:spPr>
          <a:xfrm>
            <a:off x="6451600" y="2536031"/>
            <a:ext cx="480726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F14"/>
                </a:solidFill>
                <a:latin typeface="IBM Plex Sans" pitchFamily="34" charset="0"/>
                <a:ea typeface="IBM Plex Sans" pitchFamily="34" charset="-122"/>
                <a:cs typeface="IBM Plex Sans" pitchFamily="34" charset="-120"/>
              </a:rPr>
              <a:t>MECHANISM</a:t>
            </a:r>
            <a:endParaRPr lang="en-US" sz="1200" dirty="0"/>
          </a:p>
        </p:txBody>
      </p:sp>
      <p:sp>
        <p:nvSpPr>
          <p:cNvPr id="15" name="Text 13"/>
          <p:cNvSpPr/>
          <p:nvPr/>
        </p:nvSpPr>
        <p:spPr>
          <a:xfrm>
            <a:off x="6451600" y="2774752"/>
            <a:ext cx="480726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Backend stores expiresAt = now + 24 h and refuses access afterwards.</a:t>
            </a:r>
            <a:endParaRPr lang="en-US" sz="1400" dirty="0"/>
          </a:p>
        </p:txBody>
      </p:sp>
      <p:sp>
        <p:nvSpPr>
          <p:cNvPr id="16" name="Text 14"/>
          <p:cNvSpPr/>
          <p:nvPr/>
        </p:nvSpPr>
        <p:spPr>
          <a:xfrm>
            <a:off x="6451600" y="3424833"/>
            <a:ext cx="480726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F14"/>
                </a:solidFill>
                <a:latin typeface="IBM Plex Sans" pitchFamily="34" charset="0"/>
                <a:ea typeface="IBM Plex Sans" pitchFamily="34" charset="-122"/>
                <a:cs typeface="IBM Plex Sans" pitchFamily="34" charset="-120"/>
              </a:rPr>
              <a:t>STRENGTH</a:t>
            </a:r>
            <a:endParaRPr lang="en-US" sz="1200" dirty="0"/>
          </a:p>
        </p:txBody>
      </p:sp>
      <p:sp>
        <p:nvSpPr>
          <p:cNvPr id="17" name="Text 15"/>
          <p:cNvSpPr/>
          <p:nvPr/>
        </p:nvSpPr>
        <p:spPr>
          <a:xfrm>
            <a:off x="6451600" y="3663553"/>
            <a:ext cx="480726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Exact 24-hour cut-off.</a:t>
            </a:r>
            <a:endParaRPr lang="en-US" sz="1400" dirty="0"/>
          </a:p>
        </p:txBody>
      </p:sp>
      <p:sp>
        <p:nvSpPr>
          <p:cNvPr id="18" name="Text 16"/>
          <p:cNvSpPr/>
          <p:nvPr/>
        </p:nvSpPr>
        <p:spPr>
          <a:xfrm>
            <a:off x="6451600" y="4064794"/>
            <a:ext cx="480726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F14"/>
                </a:solidFill>
                <a:latin typeface="IBM Plex Sans" pitchFamily="34" charset="0"/>
                <a:ea typeface="IBM Plex Sans" pitchFamily="34" charset="-122"/>
                <a:cs typeface="IBM Plex Sans" pitchFamily="34" charset="-120"/>
              </a:rPr>
              <a:t>WEAKNESS</a:t>
            </a:r>
            <a:endParaRPr lang="en-US" sz="1200" dirty="0"/>
          </a:p>
        </p:txBody>
      </p:sp>
      <p:sp>
        <p:nvSpPr>
          <p:cNvPr id="19" name="Text 17"/>
          <p:cNvSpPr/>
          <p:nvPr/>
        </p:nvSpPr>
        <p:spPr>
          <a:xfrm>
            <a:off x="6451600" y="4303514"/>
            <a:ext cx="480726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Only blocks access. It does not delete the object.</a:t>
            </a:r>
            <a:endParaRPr lang="en-US" sz="1400" dirty="0"/>
          </a:p>
        </p:txBody>
      </p:sp>
      <p:sp>
        <p:nvSpPr>
          <p:cNvPr id="20" name="Text 18"/>
          <p:cNvSpPr/>
          <p:nvPr/>
        </p:nvSpPr>
        <p:spPr>
          <a:xfrm>
            <a:off x="812800" y="6238280"/>
            <a:ext cx="34882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TempShare · S3 presigned URLs practicum</a:t>
            </a:r>
            <a:endParaRPr lang="en-US" sz="1200" dirty="0"/>
          </a:p>
        </p:txBody>
      </p:sp>
      <p:sp>
        <p:nvSpPr>
          <p:cNvPr id="21" name="Text 19"/>
          <p:cNvSpPr/>
          <p:nvPr/>
        </p:nvSpPr>
        <p:spPr>
          <a:xfrm>
            <a:off x="11145441" y="62382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F14"/>
                </a:solidFill>
                <a:latin typeface="IBM Plex Sans" pitchFamily="34" charset="0"/>
                <a:ea typeface="IBM Plex Sans" pitchFamily="34" charset="-122"/>
                <a:cs typeface="IBM Plex Sans" pitchFamily="34" charset="-120"/>
              </a:rPr>
              <a:t>PART 1 · AWS SETUP · ABOUT 30 MIN</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IBM Plex Sans" pitchFamily="34" charset="0"/>
                <a:ea typeface="IBM Plex Sans" pitchFamily="34" charset="-122"/>
                <a:cs typeface="IBM Plex Sans" pitchFamily="34" charset="-120"/>
              </a:rPr>
              <a:t>Private bucket + CORS</a:t>
            </a:r>
            <a:endParaRPr lang="en-US" sz="3200" dirty="0"/>
          </a:p>
        </p:txBody>
      </p:sp>
      <p:sp>
        <p:nvSpPr>
          <p:cNvPr id="4" name="Text 2"/>
          <p:cNvSpPr/>
          <p:nvPr/>
        </p:nvSpPr>
        <p:spPr>
          <a:xfrm>
            <a:off x="812800" y="1899841"/>
            <a:ext cx="533704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B"/>
                </a:solidFill>
                <a:latin typeface="IBM Plex Sans" pitchFamily="34" charset="0"/>
                <a:ea typeface="IBM Plex Sans" pitchFamily="34" charset="-122"/>
                <a:cs typeface="IBM Plex Sans" pitchFamily="34" charset="-120"/>
              </a:rPr>
              <a:t>2.1 Create the bucket</a:t>
            </a:r>
            <a:endParaRPr lang="en-US" sz="1800" dirty="0"/>
          </a:p>
        </p:txBody>
      </p:sp>
      <p:sp>
        <p:nvSpPr>
          <p:cNvPr id="5" name="Text 3"/>
          <p:cNvSpPr/>
          <p:nvPr/>
        </p:nvSpPr>
        <p:spPr>
          <a:xfrm>
            <a:off x="891032" y="2275681"/>
            <a:ext cx="5251196" cy="1269603"/>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dirty="0">
                <a:solidFill>
                  <a:srgbClr val="44505C"/>
                </a:solidFill>
                <a:latin typeface="IBM Plex Sans" pitchFamily="34" charset="0"/>
                <a:ea typeface="IBM Plex Sans" pitchFamily="34" charset="-122"/>
                <a:cs typeface="IBM Plex Sans" pitchFamily="34" charset="-120"/>
              </a:rPr>
              <a:t>Globally unique name, e.g. tempshare-demo-12345</a:t>
            </a:r>
            <a:endParaRPr lang="en-US" sz="1400" dirty="0"/>
          </a:p>
          <a:p>
            <a:pPr algn="l" marL="175768" indent="-175768">
              <a:lnSpc>
                <a:spcPts val="1960"/>
              </a:lnSpc>
              <a:buSzPct val="100000"/>
              <a:buChar char="•"/>
            </a:pPr>
            <a:r>
              <a:rPr lang="en-US" sz="1400" dirty="0">
                <a:solidFill>
                  <a:srgbClr val="44505C"/>
                </a:solidFill>
                <a:latin typeface="IBM Plex Sans" pitchFamily="34" charset="0"/>
                <a:ea typeface="IBM Plex Sans" pitchFamily="34" charset="-122"/>
                <a:cs typeface="IBM Plex Sans" pitchFamily="34" charset="-120"/>
              </a:rPr>
              <a:t>Region: ap-southeast-1 (or your own)</a:t>
            </a:r>
            <a:endParaRPr lang="en-US" sz="1400" dirty="0"/>
          </a:p>
          <a:p>
            <a:pPr algn="l" marL="175768" indent="-175768">
              <a:lnSpc>
                <a:spcPts val="1960"/>
              </a:lnSpc>
              <a:buSzPct val="100000"/>
              <a:buChar char="•"/>
            </a:pPr>
            <a:r>
              <a:rPr lang="en-US" sz="1400" dirty="0">
                <a:solidFill>
                  <a:srgbClr val="44505C"/>
                </a:solidFill>
                <a:latin typeface="IBM Plex Sans" pitchFamily="34" charset="0"/>
                <a:ea typeface="IBM Plex Sans" pitchFamily="34" charset="-122"/>
                <a:cs typeface="IBM Plex Sans" pitchFamily="34" charset="-120"/>
              </a:rPr>
              <a:t>Keep </a:t>
            </a:r>
            <a:r>
              <a:rPr lang="en-US" sz="1400" b="1" dirty="0">
                <a:solidFill>
                  <a:srgbClr val="44505C"/>
                </a:solidFill>
                <a:latin typeface="IBM Plex Sans" pitchFamily="34" charset="0"/>
                <a:ea typeface="IBM Plex Sans" pitchFamily="34" charset="-122"/>
                <a:cs typeface="IBM Plex Sans" pitchFamily="34" charset="-120"/>
              </a:rPr>
              <a:t>Block all public access</a:t>
            </a:r>
            <a:r>
              <a:rPr lang="en-US" sz="1400" dirty="0">
                <a:solidFill>
                  <a:srgbClr val="44505C"/>
                </a:solidFill>
                <a:latin typeface="IBM Plex Sans" pitchFamily="34" charset="0"/>
                <a:ea typeface="IBM Plex Sans" pitchFamily="34" charset="-122"/>
                <a:cs typeface="IBM Plex Sans" pitchFamily="34" charset="-120"/>
              </a:rPr>
              <a:t> ON: presigned URLs don't need a public bucket</a:t>
            </a:r>
            <a:endParaRPr lang="en-US" sz="1400" dirty="0"/>
          </a:p>
          <a:p>
            <a:pPr algn="l" marL="175768" indent="-175768">
              <a:lnSpc>
                <a:spcPts val="1960"/>
              </a:lnSpc>
              <a:buSzPct val="100000"/>
              <a:buChar char="•"/>
            </a:pPr>
            <a:r>
              <a:rPr lang="en-US" sz="1400" dirty="0">
                <a:solidFill>
                  <a:srgbClr val="44505C"/>
                </a:solidFill>
                <a:latin typeface="IBM Plex Sans" pitchFamily="34" charset="0"/>
                <a:ea typeface="IBM Plex Sans" pitchFamily="34" charset="-122"/>
                <a:cs typeface="IBM Plex Sans" pitchFamily="34" charset="-120"/>
              </a:rPr>
              <a:t>Keep default encryption (SSE-S3)</a:t>
            </a:r>
            <a:endParaRPr lang="en-US" sz="1400" dirty="0"/>
          </a:p>
        </p:txBody>
      </p:sp>
      <p:sp>
        <p:nvSpPr>
          <p:cNvPr id="6" name="Text 4"/>
          <p:cNvSpPr/>
          <p:nvPr/>
        </p:nvSpPr>
        <p:spPr>
          <a:xfrm>
            <a:off x="812800" y="3773884"/>
            <a:ext cx="533704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B"/>
                </a:solidFill>
                <a:latin typeface="IBM Plex Sans" pitchFamily="34" charset="0"/>
                <a:ea typeface="IBM Plex Sans" pitchFamily="34" charset="-122"/>
                <a:cs typeface="IBM Plex Sans" pitchFamily="34" charset="-120"/>
              </a:rPr>
              <a:t>2.2 Configure CORS</a:t>
            </a:r>
            <a:endParaRPr lang="en-US" sz="1800" dirty="0"/>
          </a:p>
        </p:txBody>
      </p:sp>
      <p:sp>
        <p:nvSpPr>
          <p:cNvPr id="7" name="Text 5"/>
          <p:cNvSpPr/>
          <p:nvPr/>
        </p:nvSpPr>
        <p:spPr>
          <a:xfrm>
            <a:off x="812800" y="4149725"/>
            <a:ext cx="5337048"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The browser uploads to S3 from your page's origin, so S3 must allow it: Bucket → Permissions → CORS. In production, use your real domain.</a:t>
            </a:r>
            <a:endParaRPr lang="en-US" sz="1400" dirty="0"/>
          </a:p>
        </p:txBody>
      </p:sp>
      <p:sp>
        <p:nvSpPr>
          <p:cNvPr id="8" name="Text 6"/>
          <p:cNvSpPr/>
          <p:nvPr/>
        </p:nvSpPr>
        <p:spPr>
          <a:xfrm>
            <a:off x="6299200" y="1899841"/>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JetBrains Mono" pitchFamily="49" charset="0"/>
                <a:ea typeface="JetBrains Mono" pitchFamily="49" charset="-122"/>
                <a:cs typeface="JetBrains Mono" pitchFamily="49" charset="-120"/>
              </a:rPr>
              <a:t>aws/cors.json</a:t>
            </a:r>
            <a:endParaRPr lang="en-US" sz="1200" dirty="0"/>
          </a:p>
        </p:txBody>
      </p:sp>
      <p:sp>
        <p:nvSpPr>
          <p:cNvPr id="9" name="Text 7"/>
          <p:cNvSpPr/>
          <p:nvPr/>
        </p:nvSpPr>
        <p:spPr>
          <a:xfrm>
            <a:off x="6299200" y="2214761"/>
            <a:ext cx="5080000" cy="2235200"/>
          </a:xfrm>
          <a:prstGeom prst="roundRect">
            <a:avLst>
              <a:gd name="adj" fmla="val 3409"/>
            </a:avLst>
          </a:prstGeom>
          <a:solidFill>
            <a:srgbClr val="14202B"/>
          </a:solidFill>
          <a:ln/>
        </p:spPr>
        <p:txBody>
          <a:bodyPr wrap="square" lIns="180882" tIns="180882" rIns="40674" bIns="155482" rtlCol="0" anchor="t">
            <a:normAutofit/>
          </a:bodyPr>
          <a:lstStyle/>
          <a:p>
            <a:pPr algn="l" indent="0" marL="0">
              <a:lnSpc>
                <a:spcPts val="1800"/>
              </a:lnSpc>
              <a:buNone/>
            </a:pPr>
            <a:r>
              <a:rPr lang="en-US" sz="1200" dirty="0">
                <a:solidFill>
                  <a:srgbClr val="E6EDF3"/>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DF3"/>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E6EDF3"/>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"AllowedOrigins"</a:t>
            </a:r>
            <a:r>
              <a:rPr lang="en-US" sz="1200" dirty="0">
                <a:solidFill>
                  <a:srgbClr val="E6EDF3"/>
                </a:solidFill>
                <a:latin typeface="JetBrains Mono" pitchFamily="49" charset="0"/>
                <a:ea typeface="JetBrains Mono" pitchFamily="49" charset="-122"/>
                <a:cs typeface="JetBrains Mono" pitchFamily="49" charset="-120"/>
              </a:rPr>
              <a:t>: ["http://localhost:3000"],</a:t>
            </a:r>
            <a:endParaRPr lang="en-US" sz="1200" dirty="0"/>
          </a:p>
          <a:p>
            <a:pPr algn="l" indent="0" marL="0">
              <a:lnSpc>
                <a:spcPts val="1800"/>
              </a:lnSpc>
              <a:buNone/>
            </a:pPr>
            <a:r>
              <a:rPr lang="en-US" sz="1200" dirty="0">
                <a:solidFill>
                  <a:srgbClr val="E6EDF3"/>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"AllowedMethods"</a:t>
            </a:r>
            <a:r>
              <a:rPr lang="en-US" sz="1200" dirty="0">
                <a:solidFill>
                  <a:srgbClr val="E6EDF3"/>
                </a:solidFill>
                <a:latin typeface="JetBrains Mono" pitchFamily="49" charset="0"/>
                <a:ea typeface="JetBrains Mono" pitchFamily="49" charset="-122"/>
                <a:cs typeface="JetBrains Mono" pitchFamily="49" charset="-120"/>
              </a:rPr>
              <a:t>: ["PUT"],</a:t>
            </a:r>
            <a:endParaRPr lang="en-US" sz="1200" dirty="0"/>
          </a:p>
          <a:p>
            <a:pPr algn="l" indent="0" marL="0">
              <a:lnSpc>
                <a:spcPts val="1800"/>
              </a:lnSpc>
              <a:buNone/>
            </a:pPr>
            <a:r>
              <a:rPr lang="en-US" sz="1200" dirty="0">
                <a:solidFill>
                  <a:srgbClr val="E6EDF3"/>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"AllowedHeaders"</a:t>
            </a:r>
            <a:r>
              <a:rPr lang="en-US" sz="1200" dirty="0">
                <a:solidFill>
                  <a:srgbClr val="E6EDF3"/>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E6EDF3"/>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"MaxAgeSeconds"</a:t>
            </a:r>
            <a:r>
              <a:rPr lang="en-US" sz="1200" dirty="0">
                <a:solidFill>
                  <a:srgbClr val="E6EDF3"/>
                </a:solidFill>
                <a:latin typeface="JetBrains Mono" pitchFamily="49" charset="0"/>
                <a:ea typeface="JetBrains Mono" pitchFamily="49" charset="-122"/>
                <a:cs typeface="JetBrains Mono" pitchFamily="49" charset="-120"/>
              </a:rPr>
              <a:t>: 3000</a:t>
            </a:r>
            <a:endParaRPr lang="en-US" sz="1200" dirty="0"/>
          </a:p>
          <a:p>
            <a:pPr algn="l" indent="0" marL="0">
              <a:lnSpc>
                <a:spcPts val="1800"/>
              </a:lnSpc>
              <a:buNone/>
            </a:pPr>
            <a:r>
              <a:rPr lang="en-US" sz="1200" dirty="0">
                <a:solidFill>
                  <a:srgbClr val="E6EDF3"/>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E6EDF3"/>
                </a:solidFill>
                <a:latin typeface="JetBrains Mono" pitchFamily="49" charset="0"/>
                <a:ea typeface="JetBrains Mono" pitchFamily="49" charset="-122"/>
                <a:cs typeface="JetBrains Mono" pitchFamily="49" charset="-120"/>
              </a:rPr>
              <a:t>]</a:t>
            </a:r>
            <a:endParaRPr lang="en-US" sz="1200" dirty="0"/>
          </a:p>
        </p:txBody>
      </p:sp>
      <p:sp>
        <p:nvSpPr>
          <p:cNvPr id="10" name="Text 8"/>
          <p:cNvSpPr/>
          <p:nvPr/>
        </p:nvSpPr>
        <p:spPr>
          <a:xfrm>
            <a:off x="812800" y="6238280"/>
            <a:ext cx="34882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TempShare · S3 presigned URLs practicum</a:t>
            </a:r>
            <a:endParaRPr lang="en-US" sz="1200" dirty="0"/>
          </a:p>
        </p:txBody>
      </p:sp>
      <p:sp>
        <p:nvSpPr>
          <p:cNvPr id="11" name="Text 9"/>
          <p:cNvSpPr/>
          <p:nvPr/>
        </p:nvSpPr>
        <p:spPr>
          <a:xfrm>
            <a:off x="11145441" y="62382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F14"/>
                </a:solidFill>
                <a:latin typeface="IBM Plex Sans" pitchFamily="34" charset="0"/>
                <a:ea typeface="IBM Plex Sans" pitchFamily="34" charset="-122"/>
                <a:cs typeface="IBM Plex Sans" pitchFamily="34" charset="-120"/>
              </a:rPr>
              <a:t>PART 1 · AWS SETUP</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IBM Plex Sans" pitchFamily="34" charset="0"/>
                <a:ea typeface="IBM Plex Sans" pitchFamily="34" charset="-122"/>
                <a:cs typeface="IBM Plex Sans" pitchFamily="34" charset="-120"/>
              </a:rPr>
              <a:t>Lifecycle rule + IAM policy</a:t>
            </a:r>
            <a:endParaRPr lang="en-US" sz="3200" dirty="0"/>
          </a:p>
        </p:txBody>
      </p:sp>
      <p:sp>
        <p:nvSpPr>
          <p:cNvPr id="4" name="Text 2"/>
          <p:cNvSpPr/>
          <p:nvPr/>
        </p:nvSpPr>
        <p:spPr>
          <a:xfrm>
            <a:off x="812800" y="1899841"/>
            <a:ext cx="5284724"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B"/>
                </a:solidFill>
                <a:latin typeface="IBM Plex Sans" pitchFamily="34" charset="0"/>
                <a:ea typeface="IBM Plex Sans" pitchFamily="34" charset="-122"/>
                <a:cs typeface="IBM Plex Sans" pitchFamily="34" charset="-120"/>
              </a:rPr>
              <a:t>2.3 Expire uploads/ after 1 day</a:t>
            </a:r>
            <a:endParaRPr lang="en-US" sz="1800" dirty="0"/>
          </a:p>
        </p:txBody>
      </p:sp>
      <p:sp>
        <p:nvSpPr>
          <p:cNvPr id="5" name="Text 3"/>
          <p:cNvSpPr/>
          <p:nvPr/>
        </p:nvSpPr>
        <p:spPr>
          <a:xfrm>
            <a:off x="812800" y="2275681"/>
            <a:ext cx="5130800" cy="2692400"/>
          </a:xfrm>
          <a:prstGeom prst="roundRect">
            <a:avLst>
              <a:gd name="adj" fmla="val 2830"/>
            </a:avLst>
          </a:prstGeom>
          <a:solidFill>
            <a:srgbClr val="14202B"/>
          </a:solidFill>
          <a:ln/>
        </p:spPr>
        <p:txBody>
          <a:bodyPr wrap="square" lIns="180882" tIns="180882" rIns="39150" bIns="155482" rtlCol="0" anchor="t">
            <a:normAutofit/>
          </a:bodyPr>
          <a:lstStyle/>
          <a:p>
            <a:pPr algn="l" indent="0" marL="0">
              <a:lnSpc>
                <a:spcPts val="1800"/>
              </a:lnSpc>
              <a:buNone/>
            </a:pPr>
            <a:r>
              <a:rPr lang="en-US" sz="1200" dirty="0">
                <a:solidFill>
                  <a:srgbClr val="E6EDF3"/>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DF3"/>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"Rules"</a:t>
            </a:r>
            <a:r>
              <a:rPr lang="en-US" sz="1200" dirty="0">
                <a:solidFill>
                  <a:srgbClr val="E6EDF3"/>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E6EDF3"/>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"ID"</a:t>
            </a:r>
            <a:r>
              <a:rPr lang="en-US" sz="1200" dirty="0">
                <a:solidFill>
                  <a:srgbClr val="E6EDF3"/>
                </a:solidFill>
                <a:latin typeface="JetBrains Mono" pitchFamily="49" charset="0"/>
                <a:ea typeface="JetBrains Mono" pitchFamily="49" charset="-122"/>
                <a:cs typeface="JetBrains Mono" pitchFamily="49" charset="-120"/>
              </a:rPr>
              <a:t>: "expire-uploads-after-1-day",</a:t>
            </a:r>
            <a:endParaRPr lang="en-US" sz="1200" dirty="0"/>
          </a:p>
          <a:p>
            <a:pPr algn="l" indent="0" marL="0">
              <a:lnSpc>
                <a:spcPts val="1800"/>
              </a:lnSpc>
              <a:buNone/>
            </a:pPr>
            <a:r>
              <a:rPr lang="en-US" sz="1200" dirty="0">
                <a:solidFill>
                  <a:srgbClr val="E6EDF3"/>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"Status"</a:t>
            </a:r>
            <a:r>
              <a:rPr lang="en-US" sz="1200" dirty="0">
                <a:solidFill>
                  <a:srgbClr val="E6EDF3"/>
                </a:solidFill>
                <a:latin typeface="JetBrains Mono" pitchFamily="49" charset="0"/>
                <a:ea typeface="JetBrains Mono" pitchFamily="49" charset="-122"/>
                <a:cs typeface="JetBrains Mono" pitchFamily="49" charset="-120"/>
              </a:rPr>
              <a:t>: "Enabled",</a:t>
            </a:r>
            <a:endParaRPr lang="en-US" sz="1200" dirty="0"/>
          </a:p>
          <a:p>
            <a:pPr algn="l" indent="0" marL="0">
              <a:lnSpc>
                <a:spcPts val="1800"/>
              </a:lnSpc>
              <a:buNone/>
            </a:pPr>
            <a:r>
              <a:rPr lang="en-US" sz="1200" dirty="0">
                <a:solidFill>
                  <a:srgbClr val="E6EDF3"/>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"Filter"</a:t>
            </a:r>
            <a:r>
              <a:rPr lang="en-US" sz="1200" dirty="0">
                <a:solidFill>
                  <a:srgbClr val="E6EDF3"/>
                </a:solidFill>
                <a:latin typeface="JetBrains Mono" pitchFamily="49" charset="0"/>
                <a:ea typeface="JetBrains Mono" pitchFamily="49" charset="-122"/>
                <a:cs typeface="JetBrains Mono" pitchFamily="49" charset="-120"/>
              </a:rPr>
              <a:t>: { "Prefix": "uploads/" },</a:t>
            </a:r>
            <a:endParaRPr lang="en-US" sz="1200" dirty="0"/>
          </a:p>
          <a:p>
            <a:pPr algn="l" indent="0" marL="0">
              <a:lnSpc>
                <a:spcPts val="1800"/>
              </a:lnSpc>
              <a:buNone/>
            </a:pPr>
            <a:r>
              <a:rPr lang="en-US" sz="1200" dirty="0">
                <a:solidFill>
                  <a:srgbClr val="E6EDF3"/>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"Expiration"</a:t>
            </a:r>
            <a:r>
              <a:rPr lang="en-US" sz="1200" dirty="0">
                <a:solidFill>
                  <a:srgbClr val="E6EDF3"/>
                </a:solidFill>
                <a:latin typeface="JetBrains Mono" pitchFamily="49" charset="0"/>
                <a:ea typeface="JetBrains Mono" pitchFamily="49" charset="-122"/>
                <a:cs typeface="JetBrains Mono" pitchFamily="49" charset="-120"/>
              </a:rPr>
              <a:t>: { "Days": 1 },</a:t>
            </a:r>
            <a:endParaRPr lang="en-US" sz="1200" dirty="0"/>
          </a:p>
          <a:p>
            <a:pPr algn="l" indent="0" marL="0">
              <a:lnSpc>
                <a:spcPts val="1800"/>
              </a:lnSpc>
              <a:buNone/>
            </a:pPr>
            <a:r>
              <a:rPr lang="en-US" sz="1200" dirty="0">
                <a:solidFill>
                  <a:srgbClr val="E6EDF3"/>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"AbortIncompleteMultipartUpload"</a:t>
            </a:r>
            <a:r>
              <a:rPr lang="en-US" sz="1200" dirty="0">
                <a:solidFill>
                  <a:srgbClr val="E6EDF3"/>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DF3"/>
                </a:solidFill>
                <a:latin typeface="JetBrains Mono" pitchFamily="49" charset="0"/>
                <a:ea typeface="JetBrains Mono" pitchFamily="49" charset="-122"/>
                <a:cs typeface="JetBrains Mono" pitchFamily="49" charset="-120"/>
              </a:rPr>
              <a:t>      { "DaysAfterInitiation": 1 }</a:t>
            </a:r>
            <a:endParaRPr lang="en-US" sz="1200" dirty="0"/>
          </a:p>
          <a:p>
            <a:pPr algn="l" indent="0" marL="0">
              <a:lnSpc>
                <a:spcPts val="1800"/>
              </a:lnSpc>
              <a:buNone/>
            </a:pPr>
            <a:r>
              <a:rPr lang="en-US" sz="1200" dirty="0">
                <a:solidFill>
                  <a:srgbClr val="E6EDF3"/>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E6EDF3"/>
                </a:solidFill>
                <a:latin typeface="JetBrains Mono" pitchFamily="49" charset="0"/>
                <a:ea typeface="JetBrains Mono" pitchFamily="49" charset="-122"/>
                <a:cs typeface="JetBrains Mono" pitchFamily="49" charset="-120"/>
              </a:rPr>
              <a:t>}</a:t>
            </a:r>
            <a:endParaRPr lang="en-US" sz="1200" dirty="0"/>
          </a:p>
        </p:txBody>
      </p:sp>
      <p:sp>
        <p:nvSpPr>
          <p:cNvPr id="6" name="Text 4"/>
          <p:cNvSpPr/>
          <p:nvPr/>
        </p:nvSpPr>
        <p:spPr>
          <a:xfrm>
            <a:off x="812800" y="5069681"/>
            <a:ext cx="528472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lifecycle.json · apply in the console (Management → lifecycle rule) or with put-bucket-lifecycle-configuration.</a:t>
            </a:r>
            <a:endParaRPr lang="en-US" sz="1200" dirty="0"/>
          </a:p>
        </p:txBody>
      </p:sp>
      <p:sp>
        <p:nvSpPr>
          <p:cNvPr id="7" name="Text 5"/>
          <p:cNvSpPr/>
          <p:nvPr/>
        </p:nvSpPr>
        <p:spPr>
          <a:xfrm>
            <a:off x="6248400" y="1899841"/>
            <a:ext cx="5284724"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B"/>
                </a:solidFill>
                <a:latin typeface="IBM Plex Sans" pitchFamily="34" charset="0"/>
                <a:ea typeface="IBM Plex Sans" pitchFamily="34" charset="-122"/>
                <a:cs typeface="IBM Plex Sans" pitchFamily="34" charset="-120"/>
              </a:rPr>
              <a:t>2.4 Least-privilege IAM policy</a:t>
            </a:r>
            <a:endParaRPr lang="en-US" sz="1800" dirty="0"/>
          </a:p>
        </p:txBody>
      </p:sp>
      <p:sp>
        <p:nvSpPr>
          <p:cNvPr id="8" name="Text 6"/>
          <p:cNvSpPr/>
          <p:nvPr/>
        </p:nvSpPr>
        <p:spPr>
          <a:xfrm>
            <a:off x="6248400" y="2275681"/>
            <a:ext cx="5130800" cy="2463800"/>
          </a:xfrm>
          <a:prstGeom prst="roundRect">
            <a:avLst>
              <a:gd name="adj" fmla="val 3093"/>
            </a:avLst>
          </a:prstGeom>
          <a:solidFill>
            <a:srgbClr val="14202B"/>
          </a:solidFill>
          <a:ln/>
        </p:spPr>
        <p:txBody>
          <a:bodyPr wrap="square" lIns="180882" tIns="180882" rIns="39150" bIns="155482" rtlCol="0" anchor="t">
            <a:normAutofit/>
          </a:bodyPr>
          <a:lstStyle/>
          <a:p>
            <a:pPr algn="l" indent="0" marL="0">
              <a:lnSpc>
                <a:spcPts val="1800"/>
              </a:lnSpc>
              <a:buNone/>
            </a:pPr>
            <a:r>
              <a:rPr lang="en-US" sz="1200" dirty="0">
                <a:solidFill>
                  <a:srgbClr val="E6EDF3"/>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DF3"/>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"Version"</a:t>
            </a:r>
            <a:r>
              <a:rPr lang="en-US" sz="1200" dirty="0">
                <a:solidFill>
                  <a:srgbClr val="E6EDF3"/>
                </a:solidFill>
                <a:latin typeface="JetBrains Mono" pitchFamily="49" charset="0"/>
                <a:ea typeface="JetBrains Mono" pitchFamily="49" charset="-122"/>
                <a:cs typeface="JetBrains Mono" pitchFamily="49" charset="-120"/>
              </a:rPr>
              <a:t>: "2012-10-17",</a:t>
            </a:r>
            <a:endParaRPr lang="en-US" sz="1200" dirty="0"/>
          </a:p>
          <a:p>
            <a:pPr algn="l" indent="0" marL="0">
              <a:lnSpc>
                <a:spcPts val="1800"/>
              </a:lnSpc>
              <a:buNone/>
            </a:pPr>
            <a:r>
              <a:rPr lang="en-US" sz="1200" dirty="0">
                <a:solidFill>
                  <a:srgbClr val="E6EDF3"/>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"Statement"</a:t>
            </a:r>
            <a:r>
              <a:rPr lang="en-US" sz="1200" dirty="0">
                <a:solidFill>
                  <a:srgbClr val="E6EDF3"/>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E6EDF3"/>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"Effect"</a:t>
            </a:r>
            <a:r>
              <a:rPr lang="en-US" sz="1200" dirty="0">
                <a:solidFill>
                  <a:srgbClr val="E6EDF3"/>
                </a:solidFill>
                <a:latin typeface="JetBrains Mono" pitchFamily="49" charset="0"/>
                <a:ea typeface="JetBrains Mono" pitchFamily="49" charset="-122"/>
                <a:cs typeface="JetBrains Mono" pitchFamily="49" charset="-120"/>
              </a:rPr>
              <a:t>: "Allow",</a:t>
            </a:r>
            <a:endParaRPr lang="en-US" sz="1200" dirty="0"/>
          </a:p>
          <a:p>
            <a:pPr algn="l" indent="0" marL="0">
              <a:lnSpc>
                <a:spcPts val="1800"/>
              </a:lnSpc>
              <a:buNone/>
            </a:pPr>
            <a:r>
              <a:rPr lang="en-US" sz="1200" dirty="0">
                <a:solidFill>
                  <a:srgbClr val="E6EDF3"/>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"Action"</a:t>
            </a:r>
            <a:r>
              <a:rPr lang="en-US" sz="1200" dirty="0">
                <a:solidFill>
                  <a:srgbClr val="E6EDF3"/>
                </a:solidFill>
                <a:latin typeface="JetBrains Mono" pitchFamily="49" charset="0"/>
                <a:ea typeface="JetBrains Mono" pitchFamily="49" charset="-122"/>
                <a:cs typeface="JetBrains Mono" pitchFamily="49" charset="-120"/>
              </a:rPr>
              <a:t>: ["s3:PutObject", "s3:GetObject"],</a:t>
            </a:r>
            <a:endParaRPr lang="en-US" sz="1200" dirty="0"/>
          </a:p>
          <a:p>
            <a:pPr algn="l" indent="0" marL="0">
              <a:lnSpc>
                <a:spcPts val="1800"/>
              </a:lnSpc>
              <a:buNone/>
            </a:pPr>
            <a:r>
              <a:rPr lang="en-US" sz="1200" dirty="0">
                <a:solidFill>
                  <a:srgbClr val="E6EDF3"/>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"Resource"</a:t>
            </a:r>
            <a:r>
              <a:rPr lang="en-US" sz="1200" dirty="0">
                <a:solidFill>
                  <a:srgbClr val="E6EDF3"/>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DF3"/>
                </a:solidFill>
                <a:latin typeface="JetBrains Mono" pitchFamily="49" charset="0"/>
                <a:ea typeface="JetBrains Mono" pitchFamily="49" charset="-122"/>
                <a:cs typeface="JetBrains Mono" pitchFamily="49" charset="-120"/>
              </a:rPr>
              <a:t>    "arn:aws:s3:::tempshare-demo-12345/uploads/*"</a:t>
            </a:r>
            <a:endParaRPr lang="en-US" sz="1200" dirty="0"/>
          </a:p>
          <a:p>
            <a:pPr algn="l" indent="0" marL="0">
              <a:lnSpc>
                <a:spcPts val="1800"/>
              </a:lnSpc>
              <a:buNone/>
            </a:pPr>
            <a:r>
              <a:rPr lang="en-US" sz="1200" dirty="0">
                <a:solidFill>
                  <a:srgbClr val="E6EDF3"/>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E6EDF3"/>
                </a:solidFill>
                <a:latin typeface="JetBrains Mono" pitchFamily="49" charset="0"/>
                <a:ea typeface="JetBrains Mono" pitchFamily="49" charset="-122"/>
                <a:cs typeface="JetBrains Mono" pitchFamily="49" charset="-120"/>
              </a:rPr>
              <a:t>}</a:t>
            </a:r>
            <a:endParaRPr lang="en-US" sz="1200" dirty="0"/>
          </a:p>
        </p:txBody>
      </p:sp>
      <p:sp>
        <p:nvSpPr>
          <p:cNvPr id="9" name="Text 7"/>
          <p:cNvSpPr/>
          <p:nvPr/>
        </p:nvSpPr>
        <p:spPr>
          <a:xfrm>
            <a:off x="6248400" y="4841081"/>
            <a:ext cx="528472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s3:GetObject is needed for download URLs and for the HeadObject check. Use your own bucket name.</a:t>
            </a:r>
            <a:endParaRPr lang="en-US" sz="1200" dirty="0"/>
          </a:p>
        </p:txBody>
      </p:sp>
      <p:sp>
        <p:nvSpPr>
          <p:cNvPr id="10" name="Text 8"/>
          <p:cNvSpPr/>
          <p:nvPr/>
        </p:nvSpPr>
        <p:spPr>
          <a:xfrm>
            <a:off x="812800" y="6238280"/>
            <a:ext cx="34882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TempShare · S3 presigned URLs practicum</a:t>
            </a:r>
            <a:endParaRPr lang="en-US" sz="1200" dirty="0"/>
          </a:p>
        </p:txBody>
      </p:sp>
      <p:sp>
        <p:nvSpPr>
          <p:cNvPr id="11" name="Text 9"/>
          <p:cNvSpPr/>
          <p:nvPr/>
        </p:nvSpPr>
        <p:spPr>
          <a:xfrm>
            <a:off x="11145441" y="62382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F14"/>
                </a:solidFill>
                <a:latin typeface="IBM Plex Sans" pitchFamily="34" charset="0"/>
                <a:ea typeface="IBM Plex Sans" pitchFamily="34" charset="-122"/>
                <a:cs typeface="IBM Plex Sans" pitchFamily="34" charset="-120"/>
              </a:rPr>
              <a:t>PART 1 · AWS SETUP</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IBM Plex Sans" pitchFamily="34" charset="0"/>
                <a:ea typeface="IBM Plex Sans" pitchFamily="34" charset="-122"/>
                <a:cs typeface="IBM Plex Sans" pitchFamily="34" charset="-120"/>
              </a:rPr>
              <a:t>Access key and identity check</a:t>
            </a:r>
            <a:endParaRPr lang="en-US" sz="3200" dirty="0"/>
          </a:p>
        </p:txBody>
      </p:sp>
      <p:sp>
        <p:nvSpPr>
          <p:cNvPr id="4" name="Text 2"/>
          <p:cNvSpPr/>
          <p:nvPr/>
        </p:nvSpPr>
        <p:spPr>
          <a:xfrm>
            <a:off x="812800" y="1899841"/>
            <a:ext cx="3556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04F14"/>
                </a:solidFill>
                <a:latin typeface="JetBrains Mono" pitchFamily="49" charset="0"/>
                <a:ea typeface="JetBrains Mono" pitchFamily="49" charset="-122"/>
                <a:cs typeface="JetBrains Mono" pitchFamily="49" charset="-120"/>
              </a:rPr>
              <a:t>1</a:t>
            </a:r>
            <a:endParaRPr lang="en-US" sz="1400" dirty="0"/>
          </a:p>
        </p:txBody>
      </p:sp>
      <p:sp>
        <p:nvSpPr>
          <p:cNvPr id="5" name="Text 3"/>
          <p:cNvSpPr/>
          <p:nvPr/>
        </p:nvSpPr>
        <p:spPr>
          <a:xfrm>
            <a:off x="1270000" y="1899841"/>
            <a:ext cx="643585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IAM → Users → Create user </a:t>
            </a:r>
            <a:r>
              <a:rPr lang="en-US" sz="1400" b="1" dirty="0">
                <a:solidFill>
                  <a:srgbClr val="14202B"/>
                </a:solidFill>
                <a:latin typeface="IBM Plex Sans" pitchFamily="34" charset="0"/>
                <a:ea typeface="IBM Plex Sans" pitchFamily="34" charset="-122"/>
                <a:cs typeface="IBM Plex Sans" pitchFamily="34" charset="-120"/>
              </a:rPr>
              <a:t>tempshare-backend</a:t>
            </a:r>
            <a:r>
              <a:rPr lang="en-US" sz="1400" dirty="0">
                <a:solidFill>
                  <a:srgbClr val="14202B"/>
                </a:solidFill>
                <a:latin typeface="IBM Plex Sans" pitchFamily="34" charset="0"/>
                <a:ea typeface="IBM Plex Sans" pitchFamily="34" charset="-122"/>
                <a:cs typeface="IBM Plex Sans" pitchFamily="34" charset="-120"/>
              </a:rPr>
              <a:t>, no console access.</a:t>
            </a:r>
            <a:endParaRPr lang="en-US" sz="1400" dirty="0"/>
          </a:p>
        </p:txBody>
      </p:sp>
      <p:sp>
        <p:nvSpPr>
          <p:cNvPr id="6" name="Text 4"/>
          <p:cNvSpPr/>
          <p:nvPr/>
        </p:nvSpPr>
        <p:spPr>
          <a:xfrm>
            <a:off x="812800" y="2250281"/>
            <a:ext cx="3556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04F14"/>
                </a:solidFill>
                <a:latin typeface="JetBrains Mono" pitchFamily="49" charset="0"/>
                <a:ea typeface="JetBrains Mono" pitchFamily="49" charset="-122"/>
                <a:cs typeface="JetBrains Mono" pitchFamily="49" charset="-120"/>
              </a:rPr>
              <a:t>2</a:t>
            </a:r>
            <a:endParaRPr lang="en-US" sz="1400" dirty="0"/>
          </a:p>
        </p:txBody>
      </p:sp>
      <p:sp>
        <p:nvSpPr>
          <p:cNvPr id="7" name="Text 5"/>
          <p:cNvSpPr/>
          <p:nvPr/>
        </p:nvSpPr>
        <p:spPr>
          <a:xfrm>
            <a:off x="1270000" y="2250281"/>
            <a:ext cx="643585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Attach the policy from 2.4.</a:t>
            </a:r>
            <a:endParaRPr lang="en-US" sz="1400" dirty="0"/>
          </a:p>
        </p:txBody>
      </p:sp>
      <p:sp>
        <p:nvSpPr>
          <p:cNvPr id="8" name="Text 6"/>
          <p:cNvSpPr/>
          <p:nvPr/>
        </p:nvSpPr>
        <p:spPr>
          <a:xfrm>
            <a:off x="812800" y="2600722"/>
            <a:ext cx="3556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04F14"/>
                </a:solidFill>
                <a:latin typeface="JetBrains Mono" pitchFamily="49" charset="0"/>
                <a:ea typeface="JetBrains Mono" pitchFamily="49" charset="-122"/>
                <a:cs typeface="JetBrains Mono" pitchFamily="49" charset="-120"/>
              </a:rPr>
              <a:t>3</a:t>
            </a:r>
            <a:endParaRPr lang="en-US" sz="1400" dirty="0"/>
          </a:p>
        </p:txBody>
      </p:sp>
      <p:sp>
        <p:nvSpPr>
          <p:cNvPr id="9" name="Text 7"/>
          <p:cNvSpPr/>
          <p:nvPr/>
        </p:nvSpPr>
        <p:spPr>
          <a:xfrm>
            <a:off x="1270000" y="2600722"/>
            <a:ext cx="65532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Security credentials → Create access key → </a:t>
            </a:r>
            <a:r>
              <a:rPr lang="en-US" sz="1400" i="1" dirty="0">
                <a:solidFill>
                  <a:srgbClr val="14202B"/>
                </a:solidFill>
                <a:latin typeface="IBM Plex Sans" pitchFamily="34" charset="0"/>
                <a:ea typeface="IBM Plex Sans" pitchFamily="34" charset="-122"/>
                <a:cs typeface="IBM Plex Sans" pitchFamily="34" charset="-120"/>
              </a:rPr>
              <a:t>Application running outside AWS</a:t>
            </a:r>
            <a:r>
              <a:rPr lang="en-US" sz="1400" dirty="0">
                <a:solidFill>
                  <a:srgbClr val="14202B"/>
                </a:solidFill>
                <a:latin typeface="IBM Plex Sans" pitchFamily="34" charset="0"/>
                <a:ea typeface="IBM Plex Sans" pitchFamily="34" charset="-122"/>
                <a:cs typeface="IBM Plex Sans" pitchFamily="34" charset="-120"/>
              </a:rPr>
              <a:t>.</a:t>
            </a:r>
            <a:endParaRPr lang="en-US" sz="1400" dirty="0"/>
          </a:p>
        </p:txBody>
      </p:sp>
      <p:sp>
        <p:nvSpPr>
          <p:cNvPr id="10" name="Text 8"/>
          <p:cNvSpPr/>
          <p:nvPr/>
        </p:nvSpPr>
        <p:spPr>
          <a:xfrm>
            <a:off x="812800" y="2951163"/>
            <a:ext cx="3556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04F14"/>
                </a:solidFill>
                <a:latin typeface="JetBrains Mono" pitchFamily="49" charset="0"/>
                <a:ea typeface="JetBrains Mono" pitchFamily="49" charset="-122"/>
                <a:cs typeface="JetBrains Mono" pitchFamily="49" charset="-120"/>
              </a:rPr>
              <a:t>4</a:t>
            </a:r>
            <a:endParaRPr lang="en-US" sz="1400" dirty="0"/>
          </a:p>
        </p:txBody>
      </p:sp>
      <p:sp>
        <p:nvSpPr>
          <p:cNvPr id="11" name="Text 9"/>
          <p:cNvSpPr/>
          <p:nvPr/>
        </p:nvSpPr>
        <p:spPr>
          <a:xfrm>
            <a:off x="1270000" y="2951163"/>
            <a:ext cx="643585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Copy the key ID and secret. The secret is shown only once.</a:t>
            </a:r>
            <a:endParaRPr lang="en-US" sz="1400" dirty="0"/>
          </a:p>
        </p:txBody>
      </p:sp>
      <p:sp>
        <p:nvSpPr>
          <p:cNvPr id="12" name="Text 10"/>
          <p:cNvSpPr/>
          <p:nvPr/>
        </p:nvSpPr>
        <p:spPr>
          <a:xfrm>
            <a:off x="812800" y="3352403"/>
            <a:ext cx="6705600" cy="1092200"/>
          </a:xfrm>
          <a:prstGeom prst="roundRect">
            <a:avLst>
              <a:gd name="adj" fmla="val 6977"/>
            </a:avLst>
          </a:prstGeom>
          <a:solidFill>
            <a:srgbClr val="14202B"/>
          </a:solidFill>
          <a:ln/>
        </p:spPr>
        <p:txBody>
          <a:bodyPr wrap="square" lIns="180882" tIns="180882" rIns="0" bIns="155482" rtlCol="0" anchor="t">
            <a:normAutofit/>
          </a:bodyPr>
          <a:lstStyle/>
          <a:p>
            <a:pPr algn="l" indent="0" marL="0">
              <a:lnSpc>
                <a:spcPts val="1800"/>
              </a:lnSpc>
              <a:buNone/>
            </a:pPr>
            <a:r>
              <a:rPr lang="en-US" sz="1200" dirty="0">
                <a:solidFill>
                  <a:srgbClr val="E6EDF3"/>
                </a:solidFill>
                <a:latin typeface="JetBrains Mono" pitchFamily="49" charset="0"/>
                <a:ea typeface="JetBrains Mono" pitchFamily="49" charset="-122"/>
                <a:cs typeface="JetBrains Mono" pitchFamily="49" charset="-120"/>
              </a:rPr>
              <a:t>AWS_ACCESS_KEY_ID=&lt;your key&gt; \</a:t>
            </a:r>
            <a:endParaRPr lang="en-US" sz="1200" dirty="0"/>
          </a:p>
          <a:p>
            <a:pPr algn="l" indent="0" marL="0">
              <a:lnSpc>
                <a:spcPts val="1800"/>
              </a:lnSpc>
              <a:buNone/>
            </a:pPr>
            <a:r>
              <a:rPr lang="en-US" sz="1200" dirty="0">
                <a:solidFill>
                  <a:srgbClr val="E6EDF3"/>
                </a:solidFill>
                <a:latin typeface="JetBrains Mono" pitchFamily="49" charset="0"/>
                <a:ea typeface="JetBrains Mono" pitchFamily="49" charset="-122"/>
                <a:cs typeface="JetBrains Mono" pitchFamily="49" charset="-120"/>
              </a:rPr>
              <a:t>AWS_SECRET_ACCESS_KEY=&lt;your secret&gt; \</a:t>
            </a:r>
            <a:endParaRPr lang="en-US" sz="1200" dirty="0"/>
          </a:p>
          <a:p>
            <a:pPr algn="l" indent="0" marL="0">
              <a:lnSpc>
                <a:spcPts val="1800"/>
              </a:lnSpc>
              <a:buNone/>
            </a:pPr>
            <a:r>
              <a:rPr lang="en-US" sz="1200" dirty="0">
                <a:solidFill>
                  <a:srgbClr val="F0A35E"/>
                </a:solidFill>
                <a:latin typeface="JetBrains Mono" pitchFamily="49" charset="0"/>
                <a:ea typeface="JetBrains Mono" pitchFamily="49" charset="-122"/>
                <a:cs typeface="JetBrains Mono" pitchFamily="49" charset="-120"/>
              </a:rPr>
              <a:t>aws sts get-caller-identity</a:t>
            </a:r>
            <a:endParaRPr lang="en-US" sz="1200" dirty="0"/>
          </a:p>
        </p:txBody>
      </p:sp>
      <p:sp>
        <p:nvSpPr>
          <p:cNvPr id="13" name="Text 11"/>
          <p:cNvSpPr/>
          <p:nvPr/>
        </p:nvSpPr>
        <p:spPr>
          <a:xfrm>
            <a:off x="812800" y="4597003"/>
            <a:ext cx="69067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2.5 · The output must show the ARN of tempshare-backend.</a:t>
            </a:r>
            <a:endParaRPr lang="en-US" sz="1200" dirty="0"/>
          </a:p>
        </p:txBody>
      </p:sp>
      <p:sp>
        <p:nvSpPr>
          <p:cNvPr id="14" name="Shape 12"/>
          <p:cNvSpPr/>
          <p:nvPr/>
        </p:nvSpPr>
        <p:spPr>
          <a:xfrm>
            <a:off x="7823200" y="1899841"/>
            <a:ext cx="3556000" cy="2514203"/>
          </a:xfrm>
          <a:prstGeom prst="roundRect">
            <a:avLst>
              <a:gd name="adj" fmla="val 3031"/>
            </a:avLst>
          </a:prstGeom>
          <a:solidFill>
            <a:srgbClr val="F7E6DA"/>
          </a:solidFill>
          <a:ln/>
        </p:spPr>
      </p:sp>
      <p:sp>
        <p:nvSpPr>
          <p:cNvPr id="15" name="Shape 13"/>
          <p:cNvSpPr/>
          <p:nvPr/>
        </p:nvSpPr>
        <p:spPr>
          <a:xfrm>
            <a:off x="7823200" y="1899841"/>
            <a:ext cx="3556000" cy="2514203"/>
          </a:xfrm>
          <a:custGeom>
            <a:avLst/>
            <a:gdLst/>
            <a:ahLst/>
            <a:cxnLst/>
            <a:rect l="l" t="t" r="r" b="b"/>
            <a:pathLst>
              <a:path w="3556000" h="2514203">
                <a:moveTo>
                  <a:pt x="76200" y="2514203"/>
                </a:moveTo>
                <a:lnTo>
                  <a:pt x="76200" y="2514203"/>
                </a:lnTo>
                <a:arcTo hR="76200" wR="76200" stAng="5400000" swAng="5400000"/>
                <a:lnTo>
                  <a:pt x="0" y="76200"/>
                </a:lnTo>
                <a:arcTo hR="76200" wR="76200" stAng="10800000" swAng="5400000"/>
                <a:lnTo>
                  <a:pt x="76200" y="0"/>
                </a:lnTo>
                <a:arcTo hR="76200" wR="38100" stAng="16200000" swAng="-5400000"/>
                <a:lnTo>
                  <a:pt x="38100" y="2438003"/>
                </a:lnTo>
                <a:arcTo hR="76200" wR="38100" stAng="10800000" swAng="-5400000"/>
                <a:close/>
              </a:path>
            </a:pathLst>
          </a:custGeom>
          <a:solidFill>
            <a:srgbClr val="B04F14"/>
          </a:solidFill>
          <a:ln/>
        </p:spPr>
      </p:sp>
      <p:pic>
        <p:nvPicPr>
          <p:cNvPr id="16" name="Image 0" descr="Warning">    </p:cNvPr>
          <p:cNvPicPr>
            <a:picLocks noChangeAspect="1"/>
          </p:cNvPicPr>
          <p:nvPr/>
        </p:nvPicPr>
        <p:blipFill>
          <a:blip r:embed="rId1"/>
          <a:srcRect l="0" r="0" t="0" b="0"/>
          <a:stretch/>
        </p:blipFill>
        <p:spPr>
          <a:xfrm>
            <a:off x="8115300" y="2153841"/>
            <a:ext cx="355600" cy="355600"/>
          </a:xfrm>
          <a:prstGeom prst="rect">
            <a:avLst/>
          </a:prstGeom>
        </p:spPr>
      </p:pic>
      <p:sp>
        <p:nvSpPr>
          <p:cNvPr id="17" name="Text 14"/>
          <p:cNvSpPr/>
          <p:nvPr/>
        </p:nvSpPr>
        <p:spPr>
          <a:xfrm>
            <a:off x="8115300" y="2636441"/>
            <a:ext cx="310019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B"/>
                </a:solidFill>
                <a:latin typeface="IBM Plex Sans" pitchFamily="34" charset="0"/>
                <a:ea typeface="IBM Plex Sans" pitchFamily="34" charset="-122"/>
                <a:cs typeface="IBM Plex Sans" pitchFamily="34" charset="-120"/>
              </a:rPr>
              <a:t>Never commit credentials</a:t>
            </a:r>
            <a:endParaRPr lang="en-US" sz="1800" dirty="0"/>
          </a:p>
        </p:txBody>
      </p:sp>
      <p:sp>
        <p:nvSpPr>
          <p:cNvPr id="18" name="Text 15"/>
          <p:cNvSpPr/>
          <p:nvPr/>
        </p:nvSpPr>
        <p:spPr>
          <a:xfrm>
            <a:off x="8115300" y="3037681"/>
            <a:ext cx="310019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0"/>
                </a:solidFill>
                <a:latin typeface="IBM Plex Sans" pitchFamily="34" charset="0"/>
                <a:ea typeface="IBM Plex Sans" pitchFamily="34" charset="-122"/>
                <a:cs typeface="IBM Plex Sans" pitchFamily="34" charset="-120"/>
              </a:rPr>
              <a:t>Keys starting with AKIA are long-term keys of an IAM user.</a:t>
            </a:r>
            <a:endParaRPr lang="en-US" sz="1400" dirty="0"/>
          </a:p>
        </p:txBody>
      </p:sp>
      <p:sp>
        <p:nvSpPr>
          <p:cNvPr id="19" name="Text 16"/>
          <p:cNvSpPr/>
          <p:nvPr/>
        </p:nvSpPr>
        <p:spPr>
          <a:xfrm>
            <a:off x="8115300" y="3662362"/>
            <a:ext cx="310019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0"/>
                </a:solidFill>
                <a:latin typeface="IBM Plex Sans" pitchFamily="34" charset="0"/>
                <a:ea typeface="IBM Plex Sans" pitchFamily="34" charset="-122"/>
                <a:cs typeface="IBM Plex Sans" pitchFamily="34" charset="-120"/>
              </a:rPr>
              <a:t>On EC2, ECS or Lambda, use an IAM role instead and delete the keys.</a:t>
            </a:r>
            <a:endParaRPr lang="en-US" sz="1400" dirty="0"/>
          </a:p>
        </p:txBody>
      </p:sp>
      <p:sp>
        <p:nvSpPr>
          <p:cNvPr id="20" name="Text 17"/>
          <p:cNvSpPr/>
          <p:nvPr/>
        </p:nvSpPr>
        <p:spPr>
          <a:xfrm>
            <a:off x="812800" y="6238280"/>
            <a:ext cx="34882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TempShare · S3 presigned URLs practicum</a:t>
            </a:r>
            <a:endParaRPr lang="en-US" sz="1200" dirty="0"/>
          </a:p>
        </p:txBody>
      </p:sp>
      <p:sp>
        <p:nvSpPr>
          <p:cNvPr id="21" name="Text 18"/>
          <p:cNvSpPr/>
          <p:nvPr/>
        </p:nvSpPr>
        <p:spPr>
          <a:xfrm>
            <a:off x="11145441" y="62382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F14"/>
                </a:solidFill>
                <a:latin typeface="IBM Plex Sans" pitchFamily="34" charset="0"/>
                <a:ea typeface="IBM Plex Sans" pitchFamily="34" charset="-122"/>
                <a:cs typeface="IBM Plex Sans" pitchFamily="34" charset="-120"/>
              </a:rPr>
              <a:t>PART 2 · PROJECT SETUP · ABOUT 15 MIN</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IBM Plex Sans" pitchFamily="34" charset="0"/>
                <a:ea typeface="IBM Plex Sans" pitchFamily="34" charset="-122"/>
                <a:cs typeface="IBM Plex Sans" pitchFamily="34" charset="-120"/>
              </a:rPr>
              <a:t>Project layout and configuration</a:t>
            </a:r>
            <a:endParaRPr lang="en-US" sz="3200" dirty="0"/>
          </a:p>
        </p:txBody>
      </p:sp>
      <p:sp>
        <p:nvSpPr>
          <p:cNvPr id="4" name="Text 2"/>
          <p:cNvSpPr/>
          <p:nvPr/>
        </p:nvSpPr>
        <p:spPr>
          <a:xfrm>
            <a:off x="812800" y="1899841"/>
            <a:ext cx="4064000" cy="2235200"/>
          </a:xfrm>
          <a:prstGeom prst="roundRect">
            <a:avLst>
              <a:gd name="adj" fmla="val 3409"/>
            </a:avLst>
          </a:prstGeom>
          <a:solidFill>
            <a:srgbClr val="14202B"/>
          </a:solidFill>
          <a:ln/>
        </p:spPr>
        <p:txBody>
          <a:bodyPr wrap="square" lIns="180882" tIns="180882" rIns="71154" bIns="155482" rtlCol="0" anchor="t">
            <a:normAutofit/>
          </a:bodyPr>
          <a:lstStyle/>
          <a:p>
            <a:pPr algn="l" indent="0" marL="0">
              <a:lnSpc>
                <a:spcPts val="1800"/>
              </a:lnSpc>
              <a:buNone/>
            </a:pPr>
            <a:r>
              <a:rPr lang="en-US" sz="1200" dirty="0">
                <a:solidFill>
                  <a:srgbClr val="F0A35E"/>
                </a:solidFill>
                <a:latin typeface="JetBrains Mono" pitchFamily="49" charset="0"/>
                <a:ea typeface="JetBrains Mono" pitchFamily="49" charset="-122"/>
                <a:cs typeface="JetBrains Mono" pitchFamily="49" charset="-120"/>
              </a:rPr>
              <a:t>tempshare/</a:t>
            </a:r>
            <a:endParaRPr lang="en-US" sz="1200" dirty="0"/>
          </a:p>
          <a:p>
            <a:pPr algn="l" indent="0" marL="0">
              <a:lnSpc>
                <a:spcPts val="1800"/>
              </a:lnSpc>
              <a:buNone/>
            </a:pPr>
            <a:r>
              <a:rPr lang="en-US" sz="1200" dirty="0">
                <a:solidFill>
                  <a:srgbClr val="E6EDF3"/>
                </a:solidFill>
                <a:latin typeface="JetBrains Mono" pitchFamily="49" charset="0"/>
                <a:ea typeface="JetBrains Mono" pitchFamily="49" charset="-122"/>
                <a:cs typeface="JetBrains Mono" pitchFamily="49" charset="-120"/>
              </a:rPr>
              <a:t>├── .env</a:t>
            </a:r>
            <a:endParaRPr lang="en-US" sz="1200" dirty="0"/>
          </a:p>
          <a:p>
            <a:pPr algn="l" indent="0" marL="0">
              <a:lnSpc>
                <a:spcPts val="1800"/>
              </a:lnSpc>
              <a:buNone/>
            </a:pPr>
            <a:r>
              <a:rPr lang="en-US" sz="1200" dirty="0">
                <a:solidFill>
                  <a:srgbClr val="E6EDF3"/>
                </a:solidFill>
                <a:latin typeface="JetBrains Mono" pitchFamily="49" charset="0"/>
                <a:ea typeface="JetBrains Mono" pitchFamily="49" charset="-122"/>
                <a:cs typeface="JetBrains Mono" pitchFamily="49" charset="-120"/>
              </a:rPr>
              <a:t>├── .gitignore</a:t>
            </a:r>
            <a:endParaRPr lang="en-US" sz="1200" dirty="0"/>
          </a:p>
          <a:p>
            <a:pPr algn="l" indent="0" marL="0">
              <a:lnSpc>
                <a:spcPts val="1800"/>
              </a:lnSpc>
              <a:buNone/>
            </a:pPr>
            <a:r>
              <a:rPr lang="en-US" sz="1200" dirty="0">
                <a:solidFill>
                  <a:srgbClr val="E6EDF3"/>
                </a:solidFill>
                <a:latin typeface="JetBrains Mono" pitchFamily="49" charset="0"/>
                <a:ea typeface="JetBrains Mono" pitchFamily="49" charset="-122"/>
                <a:cs typeface="JetBrains Mono" pitchFamily="49" charset="-120"/>
              </a:rPr>
              <a:t>├── package.json</a:t>
            </a:r>
            <a:endParaRPr lang="en-US" sz="1200" dirty="0"/>
          </a:p>
          <a:p>
            <a:pPr algn="l" indent="0" marL="0">
              <a:lnSpc>
                <a:spcPts val="1800"/>
              </a:lnSpc>
              <a:buNone/>
            </a:pPr>
            <a:r>
              <a:rPr lang="en-US" sz="1200" dirty="0">
                <a:solidFill>
                  <a:srgbClr val="E6EDF3"/>
                </a:solidFill>
                <a:latin typeface="JetBrains Mono" pitchFamily="49" charset="0"/>
                <a:ea typeface="JetBrains Mono" pitchFamily="49" charset="-122"/>
                <a:cs typeface="JetBrains Mono" pitchFamily="49" charset="-120"/>
              </a:rPr>
              <a:t>├── server.js</a:t>
            </a:r>
            <a:endParaRPr lang="en-US" sz="1200" dirty="0"/>
          </a:p>
          <a:p>
            <a:pPr algn="l" indent="0" marL="0">
              <a:lnSpc>
                <a:spcPts val="1800"/>
              </a:lnSpc>
              <a:buNone/>
            </a:pPr>
            <a:r>
              <a:rPr lang="en-US" sz="1200" dirty="0">
                <a:solidFill>
                  <a:srgbClr val="E6EDF3"/>
                </a:solidFill>
                <a:latin typeface="JetBrains Mono" pitchFamily="49" charset="0"/>
                <a:ea typeface="JetBrains Mono" pitchFamily="49" charset="-122"/>
                <a:cs typeface="JetBrains Mono" pitchFamily="49" charset="-120"/>
              </a:rPr>
              <a:t>└── </a:t>
            </a:r>
            <a:r>
              <a:rPr lang="en-US" sz="1200" dirty="0">
                <a:solidFill>
                  <a:srgbClr val="F0A35E"/>
                </a:solidFill>
                <a:latin typeface="JetBrains Mono" pitchFamily="49" charset="0"/>
                <a:ea typeface="JetBrains Mono" pitchFamily="49" charset="-122"/>
                <a:cs typeface="JetBrains Mono" pitchFamily="49" charset="-120"/>
              </a:rPr>
              <a:t>public/</a:t>
            </a:r>
            <a:endParaRPr lang="en-US" sz="1200" dirty="0"/>
          </a:p>
          <a:p>
            <a:pPr algn="l" indent="0" marL="0">
              <a:lnSpc>
                <a:spcPts val="1800"/>
              </a:lnSpc>
              <a:buNone/>
            </a:pPr>
            <a:r>
              <a:rPr lang="en-US" sz="1200" dirty="0">
                <a:solidFill>
                  <a:srgbClr val="E6EDF3"/>
                </a:solidFill>
                <a:latin typeface="JetBrains Mono" pitchFamily="49" charset="0"/>
                <a:ea typeface="JetBrains Mono" pitchFamily="49" charset="-122"/>
                <a:cs typeface="JetBrains Mono" pitchFamily="49" charset="-120"/>
              </a:rPr>
              <a:t>    ├── index.html  upload page</a:t>
            </a:r>
            <a:endParaRPr lang="en-US" sz="1200" dirty="0"/>
          </a:p>
          <a:p>
            <a:pPr algn="l" indent="0" marL="0">
              <a:lnSpc>
                <a:spcPts val="1800"/>
              </a:lnSpc>
              <a:buNone/>
            </a:pPr>
            <a:r>
              <a:rPr lang="en-US" sz="1200" dirty="0">
                <a:solidFill>
                  <a:srgbClr val="E6EDF3"/>
                </a:solidFill>
                <a:latin typeface="JetBrains Mono" pitchFamily="49" charset="0"/>
                <a:ea typeface="JetBrains Mono" pitchFamily="49" charset="-122"/>
                <a:cs typeface="JetBrains Mono" pitchFamily="49" charset="-120"/>
              </a:rPr>
              <a:t>    └── share.html  download page</a:t>
            </a:r>
            <a:endParaRPr lang="en-US" sz="1200" dirty="0"/>
          </a:p>
        </p:txBody>
      </p:sp>
      <p:sp>
        <p:nvSpPr>
          <p:cNvPr id="5" name="Text 3"/>
          <p:cNvSpPr/>
          <p:nvPr/>
        </p:nvSpPr>
        <p:spPr>
          <a:xfrm>
            <a:off x="812800" y="4236641"/>
            <a:ext cx="41859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Then run npm install, and later npm start.</a:t>
            </a:r>
            <a:endParaRPr lang="en-US" sz="1200" dirty="0"/>
          </a:p>
        </p:txBody>
      </p:sp>
      <p:sp>
        <p:nvSpPr>
          <p:cNvPr id="6" name="Text 4"/>
          <p:cNvSpPr/>
          <p:nvPr/>
        </p:nvSpPr>
        <p:spPr>
          <a:xfrm>
            <a:off x="5181600" y="1899841"/>
            <a:ext cx="638352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B"/>
                </a:solidFill>
                <a:latin typeface="IBM Plex Sans" pitchFamily="34" charset="0"/>
                <a:ea typeface="IBM Plex Sans" pitchFamily="34" charset="-122"/>
                <a:cs typeface="IBM Plex Sans" pitchFamily="34" charset="-120"/>
              </a:rPr>
              <a:t>package.json</a:t>
            </a:r>
            <a:endParaRPr lang="en-US" sz="1800" dirty="0"/>
          </a:p>
        </p:txBody>
      </p:sp>
      <p:sp>
        <p:nvSpPr>
          <p:cNvPr id="7" name="Text 5"/>
          <p:cNvSpPr/>
          <p:nvPr/>
        </p:nvSpPr>
        <p:spPr>
          <a:xfrm>
            <a:off x="5181600" y="2250281"/>
            <a:ext cx="638352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ES modules ("type": "module"); npm start runs node server.js. Dependencies: @aws-sdk/client-s3, @aws-sdk/s3-request-presigner, dotenv, express.</a:t>
            </a:r>
            <a:endParaRPr lang="en-US" sz="1400" dirty="0"/>
          </a:p>
        </p:txBody>
      </p:sp>
      <p:sp>
        <p:nvSpPr>
          <p:cNvPr id="8" name="Text 6"/>
          <p:cNvSpPr/>
          <p:nvPr/>
        </p:nvSpPr>
        <p:spPr>
          <a:xfrm>
            <a:off x="5181600" y="2951163"/>
            <a:ext cx="638352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B"/>
                </a:solidFill>
                <a:latin typeface="IBM Plex Sans" pitchFamily="34" charset="0"/>
                <a:ea typeface="IBM Plex Sans" pitchFamily="34" charset="-122"/>
                <a:cs typeface="IBM Plex Sans" pitchFamily="34" charset="-120"/>
              </a:rPr>
              <a:t>.env</a:t>
            </a:r>
            <a:endParaRPr lang="en-US" sz="1800" dirty="0"/>
          </a:p>
        </p:txBody>
      </p:sp>
      <p:sp>
        <p:nvSpPr>
          <p:cNvPr id="9" name="Text 7"/>
          <p:cNvSpPr/>
          <p:nvPr/>
        </p:nvSpPr>
        <p:spPr>
          <a:xfrm>
            <a:off x="5181600" y="3301603"/>
            <a:ext cx="6197600" cy="1676400"/>
          </a:xfrm>
          <a:prstGeom prst="roundRect">
            <a:avLst>
              <a:gd name="adj" fmla="val 4545"/>
            </a:avLst>
          </a:prstGeom>
          <a:solidFill>
            <a:srgbClr val="ECE7DD"/>
          </a:solidFill>
          <a:ln/>
        </p:spPr>
        <p:txBody>
          <a:bodyPr wrap="square" lIns="130082" tIns="130082" rIns="0" bIns="104682" rtlCol="0" anchor="t">
            <a:normAutofit/>
          </a:bodyPr>
          <a:lstStyle/>
          <a:p>
            <a:pPr algn="l" indent="0" marL="0">
              <a:lnSpc>
                <a:spcPts val="1800"/>
              </a:lnSpc>
              <a:buNone/>
            </a:pPr>
            <a:r>
              <a:rPr lang="en-US" sz="1200" dirty="0">
                <a:solidFill>
                  <a:srgbClr val="14202B"/>
                </a:solidFill>
                <a:latin typeface="JetBrains Mono" pitchFamily="49" charset="0"/>
                <a:ea typeface="JetBrains Mono" pitchFamily="49" charset="-122"/>
                <a:cs typeface="JetBrains Mono" pitchFamily="49" charset="-120"/>
              </a:rPr>
              <a:t>AWS_ACCESS_KEY_ID=AKIA…EXAMPLE</a:t>
            </a:r>
            <a:endParaRPr lang="en-US" sz="1200" dirty="0"/>
          </a:p>
          <a:p>
            <a:pPr algn="l" indent="0" marL="0">
              <a:lnSpc>
                <a:spcPts val="1800"/>
              </a:lnSpc>
              <a:buNone/>
            </a:pPr>
            <a:r>
              <a:rPr lang="en-US" sz="1200" dirty="0">
                <a:solidFill>
                  <a:srgbClr val="14202B"/>
                </a:solidFill>
                <a:latin typeface="JetBrains Mono" pitchFamily="49" charset="0"/>
                <a:ea typeface="JetBrains Mono" pitchFamily="49" charset="-122"/>
                <a:cs typeface="JetBrains Mono" pitchFamily="49" charset="-120"/>
              </a:rPr>
              <a:t>AWS_SECRET_ACCESS_KEY=…EXAMPLEKEY</a:t>
            </a:r>
            <a:endParaRPr lang="en-US" sz="1200" dirty="0"/>
          </a:p>
          <a:p>
            <a:pPr algn="l" indent="0" marL="0">
              <a:lnSpc>
                <a:spcPts val="1800"/>
              </a:lnSpc>
              <a:buNone/>
            </a:pPr>
            <a:r>
              <a:rPr lang="en-US" sz="1200" dirty="0">
                <a:solidFill>
                  <a:srgbClr val="14202B"/>
                </a:solidFill>
                <a:latin typeface="JetBrains Mono" pitchFamily="49" charset="0"/>
                <a:ea typeface="JetBrains Mono" pitchFamily="49" charset="-122"/>
                <a:cs typeface="JetBrains Mono" pitchFamily="49" charset="-120"/>
              </a:rPr>
              <a:t>AWS_REGION=ap-southeast-1</a:t>
            </a:r>
            <a:endParaRPr lang="en-US" sz="1200" dirty="0"/>
          </a:p>
          <a:p>
            <a:pPr algn="l" indent="0" marL="0">
              <a:lnSpc>
                <a:spcPts val="1800"/>
              </a:lnSpc>
              <a:buNone/>
            </a:pPr>
            <a:r>
              <a:rPr lang="en-US" sz="1200" dirty="0">
                <a:solidFill>
                  <a:srgbClr val="14202B"/>
                </a:solidFill>
                <a:latin typeface="JetBrains Mono" pitchFamily="49" charset="0"/>
                <a:ea typeface="JetBrains Mono" pitchFamily="49" charset="-122"/>
                <a:cs typeface="JetBrains Mono" pitchFamily="49" charset="-120"/>
              </a:rPr>
              <a:t>S3_BUCKET=tempshare-demo-12345</a:t>
            </a:r>
            <a:endParaRPr lang="en-US" sz="1200" dirty="0"/>
          </a:p>
          <a:p>
            <a:pPr algn="l" indent="0" marL="0">
              <a:lnSpc>
                <a:spcPts val="1800"/>
              </a:lnSpc>
              <a:buNone/>
            </a:pPr>
            <a:r>
              <a:rPr lang="en-US" sz="1200" dirty="0">
                <a:solidFill>
                  <a:srgbClr val="14202B"/>
                </a:solidFill>
                <a:latin typeface="JetBrains Mono" pitchFamily="49" charset="0"/>
                <a:ea typeface="JetBrains Mono" pitchFamily="49" charset="-122"/>
                <a:cs typeface="JetBrains Mono" pitchFamily="49" charset="-120"/>
              </a:rPr>
              <a:t>BASE_URL=http://localhost:3000</a:t>
            </a:r>
            <a:endParaRPr lang="en-US" sz="1200" dirty="0"/>
          </a:p>
          <a:p>
            <a:pPr algn="l" indent="0" marL="0">
              <a:lnSpc>
                <a:spcPts val="1800"/>
              </a:lnSpc>
              <a:buNone/>
            </a:pPr>
            <a:r>
              <a:rPr lang="en-US" sz="1200" dirty="0">
                <a:solidFill>
                  <a:srgbClr val="14202B"/>
                </a:solidFill>
                <a:latin typeface="JetBrains Mono" pitchFamily="49" charset="0"/>
                <a:ea typeface="JetBrains Mono" pitchFamily="49" charset="-122"/>
                <a:cs typeface="JetBrains Mono" pitchFamily="49" charset="-120"/>
              </a:rPr>
              <a:t>PORT=3000</a:t>
            </a:r>
            <a:endParaRPr lang="en-US" sz="1200" dirty="0"/>
          </a:p>
        </p:txBody>
      </p:sp>
      <p:sp>
        <p:nvSpPr>
          <p:cNvPr id="10" name="Text 8"/>
          <p:cNvSpPr/>
          <p:nvPr/>
        </p:nvSpPr>
        <p:spPr>
          <a:xfrm>
            <a:off x="5181600" y="5054203"/>
            <a:ext cx="638352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The shipped keys are AWS documentation examples: they fail with InvalidAccessKeyId until you replace them.</a:t>
            </a:r>
            <a:endParaRPr lang="en-US" sz="1200" dirty="0"/>
          </a:p>
        </p:txBody>
      </p:sp>
      <p:sp>
        <p:nvSpPr>
          <p:cNvPr id="11" name="Text 9"/>
          <p:cNvSpPr/>
          <p:nvPr/>
        </p:nvSpPr>
        <p:spPr>
          <a:xfrm>
            <a:off x="812800" y="6238280"/>
            <a:ext cx="34882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TempShare · S3 presigned URLs practicum</a:t>
            </a:r>
            <a:endParaRPr lang="en-US" sz="1200" dirty="0"/>
          </a:p>
        </p:txBody>
      </p:sp>
      <p:sp>
        <p:nvSpPr>
          <p:cNvPr id="12" name="Text 10"/>
          <p:cNvSpPr/>
          <p:nvPr/>
        </p:nvSpPr>
        <p:spPr>
          <a:xfrm>
            <a:off x="11145441" y="62382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F14"/>
                </a:solidFill>
                <a:latin typeface="IBM Plex Sans" pitchFamily="34" charset="0"/>
                <a:ea typeface="IBM Plex Sans" pitchFamily="34" charset="-122"/>
                <a:cs typeface="IBM Plex Sans" pitchFamily="34" charset="-120"/>
              </a:rPr>
              <a:t>PART 3 · BACKEND · ABOUT 40 MIN</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IBM Plex Sans" pitchFamily="34" charset="0"/>
                <a:ea typeface="IBM Plex Sans" pitchFamily="34" charset="-122"/>
                <a:cs typeface="IBM Plex Sans" pitchFamily="34" charset="-120"/>
              </a:rPr>
              <a:t>server.js: three routes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12541"/>
          <a:ext cx="10553700" cy="2130326"/>
        </p:xfrm>
        <a:graphic>
          <a:graphicData uri="http://schemas.openxmlformats.org/drawingml/2006/table">
            <a:tbl>
              <a:tblPr/>
              <a:tblGrid>
                <a:gridCol w="3166110"/>
                <a:gridCol w="5487924"/>
                <a:gridCol w="1899666"/>
              </a:tblGrid>
              <a:tr h="359271">
                <a:tc>
                  <a:txBody>
                    <a:bodyPr/>
                    <a:lstStyle/>
                    <a:p>
                      <a:pPr indent="0" marL="0">
                        <a:lnSpc>
                          <a:spcPts val="1820"/>
                        </a:lnSpc>
                        <a:buNone/>
                      </a:pPr>
                      <a:r>
                        <a:rPr lang="en-US" sz="1300" b="1" dirty="0">
                          <a:solidFill>
                            <a:srgbClr val="14202B"/>
                          </a:solidFill>
                          <a:latin typeface="IBM Plex Sans" pitchFamily="34" charset="0"/>
                          <a:ea typeface="IBM Plex Sans" pitchFamily="34" charset="-122"/>
                          <a:cs typeface="IBM Plex Sans" pitchFamily="34" charset="-120"/>
                        </a:rPr>
                        <a:t>Route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BAB7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AB7B0"/>
                      </a:solidFill>
                      <a:prstDash val="solid"/>
                      <a:round/>
                      <a:headEnd type="none" w="med" len="med"/>
                      <a:tailEnd type="none" w="med" len="med"/>
                    </a:lnB>
                    <a:solidFill>
                      <a:srgbClr val="E9E5DC"/>
                    </a:solidFill>
                  </a:tcPr>
                </a:tc>
                <a:tc>
                  <a:txBody>
                    <a:bodyPr/>
                    <a:lstStyle/>
                    <a:p>
                      <a:pPr indent="0" marL="0">
                        <a:lnSpc>
                          <a:spcPts val="1820"/>
                        </a:lnSpc>
                        <a:buNone/>
                      </a:pPr>
                      <a:r>
                        <a:rPr lang="en-US" sz="1300" b="1" dirty="0">
                          <a:solidFill>
                            <a:srgbClr val="14202B"/>
                          </a:solidFill>
                          <a:latin typeface="IBM Plex Sans" pitchFamily="34" charset="0"/>
                          <a:ea typeface="IBM Plex Sans" pitchFamily="34" charset="-122"/>
                          <a:cs typeface="IBM Plex Sans" pitchFamily="34" charset="-120"/>
                        </a:rPr>
                        <a:t>What it does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7B0"/>
                      </a:solidFill>
                      <a:prstDash val="solid"/>
                      <a:round/>
                      <a:headEnd type="none" w="med" len="med"/>
                      <a:tailEnd type="none" w="med" len="med"/>
                    </a:lnL>
                    <a:lnR w="12700" cap="flat" cmpd="sng" algn="ctr">
                      <a:solidFill>
                        <a:srgbClr val="BAB7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AB7B0"/>
                      </a:solidFill>
                      <a:prstDash val="solid"/>
                      <a:round/>
                      <a:headEnd type="none" w="med" len="med"/>
                      <a:tailEnd type="none" w="med" len="med"/>
                    </a:lnB>
                    <a:solidFill>
                      <a:srgbClr val="E9E5DC"/>
                    </a:solidFill>
                  </a:tcPr>
                </a:tc>
                <a:tc>
                  <a:txBody>
                    <a:bodyPr/>
                    <a:lstStyle/>
                    <a:p>
                      <a:pPr indent="0" marL="0">
                        <a:lnSpc>
                          <a:spcPts val="1820"/>
                        </a:lnSpc>
                        <a:buNone/>
                      </a:pPr>
                      <a:r>
                        <a:rPr lang="en-US" sz="1300" b="1" dirty="0">
                          <a:solidFill>
                            <a:srgbClr val="14202B"/>
                          </a:solidFill>
                          <a:latin typeface="IBM Plex Sans" pitchFamily="34" charset="0"/>
                          <a:ea typeface="IBM Plex Sans" pitchFamily="34" charset="-122"/>
                          <a:cs typeface="IBM Plex Sans" pitchFamily="34" charset="-120"/>
                        </a:rPr>
                        <a:t>Status codes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7B0"/>
                      </a:solidFill>
                      <a:prstDash val="solid"/>
                      <a:round/>
                      <a:headEnd type="none" w="med" len="med"/>
                      <a:tailEnd type="none" w="med" len="med"/>
                    </a:lnL>
                    <a:lnR w="12700" cap="flat" cmpd="sng" algn="ctr">
                      <a:solidFill>
                        <a:srgbClr val="BAB7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AB7B0"/>
                      </a:solidFill>
                      <a:prstDash val="solid"/>
                      <a:round/>
                      <a:headEnd type="none" w="med" len="med"/>
                      <a:tailEnd type="none" w="med" len="med"/>
                    </a:lnB>
                    <a:solidFill>
                      <a:srgbClr val="E9E5DC"/>
                    </a:solidFill>
                  </a:tcPr>
                </a:tc>
              </a:tr>
              <a:tr h="821432">
                <a:tc>
                  <a:txBody>
                    <a:bodyPr/>
                    <a:lstStyle/>
                    <a:p>
                      <a:pPr indent="0" marL="0">
                        <a:lnSpc>
                          <a:spcPts val="1820"/>
                        </a:lnSpc>
                        <a:buNone/>
                      </a:pPr>
                      <a:r>
                        <a:rPr lang="en-US" sz="1300" dirty="0">
                          <a:solidFill>
                            <a:srgbClr val="14202B"/>
                          </a:solidFill>
                          <a:latin typeface="IBM Plex Sans" pitchFamily="34" charset="0"/>
                          <a:ea typeface="IBM Plex Sans" pitchFamily="34" charset="-122"/>
                          <a:cs typeface="IBM Plex Sans" pitchFamily="34" charset="-120"/>
                        </a:rPr>
                        <a:t>POST /api/uploads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AB7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4202B"/>
                          </a:solidFill>
                          <a:latin typeface="IBM Plex Sans" pitchFamily="34" charset="0"/>
                          <a:ea typeface="IBM Plex Sans" pitchFamily="34" charset="-122"/>
                          <a:cs typeface="IBM Plex Sans" pitchFamily="34" charset="-120"/>
                        </a:rPr>
                        <a:t>Validates name and size (1 byte to 10 MB), creates the share ID and secret code, stores the hashed code and expiresAt, signs a PUT URL for 300 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AB7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4202B"/>
                          </a:solidFill>
                          <a:latin typeface="IBM Plex Sans" pitchFamily="34" charset="0"/>
                          <a:ea typeface="IBM Plex Sans" pitchFamily="34" charset="-122"/>
                          <a:cs typeface="IBM Plex Sans" pitchFamily="34" charset="-120"/>
                        </a:rPr>
                        <a:t>200 · 400 · 500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AB7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202B"/>
                          </a:solidFill>
                          <a:latin typeface="IBM Plex Sans" pitchFamily="34" charset="0"/>
                          <a:ea typeface="IBM Plex Sans" pitchFamily="34" charset="-122"/>
                          <a:cs typeface="IBM Plex Sans" pitchFamily="34" charset="-120"/>
                        </a:rPr>
                        <a:t>GET /s/:id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4202B"/>
                          </a:solidFill>
                          <a:latin typeface="IBM Plex Sans" pitchFamily="34" charset="0"/>
                          <a:ea typeface="IBM Plex Sans" pitchFamily="34" charset="-122"/>
                          <a:cs typeface="IBM Plex Sans" pitchFamily="34" charset="-120"/>
                        </a:rPr>
                        <a:t>Serves public/share.html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4202B"/>
                          </a:solidFill>
                          <a:latin typeface="IBM Plex Sans" pitchFamily="34" charset="0"/>
                          <a:ea typeface="IBM Plex Sans" pitchFamily="34" charset="-122"/>
                          <a:cs typeface="IBM Plex Sans" pitchFamily="34" charset="-120"/>
                        </a:rPr>
                        <a:t>200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590352">
                <a:tc>
                  <a:txBody>
                    <a:bodyPr/>
                    <a:lstStyle/>
                    <a:p>
                      <a:pPr indent="0" marL="0">
                        <a:lnSpc>
                          <a:spcPts val="1820"/>
                        </a:lnSpc>
                        <a:buNone/>
                      </a:pPr>
                      <a:r>
                        <a:rPr lang="en-US" sz="1300" dirty="0">
                          <a:solidFill>
                            <a:srgbClr val="14202B"/>
                          </a:solidFill>
                          <a:latin typeface="IBM Plex Sans" pitchFamily="34" charset="0"/>
                          <a:ea typeface="IBM Plex Sans" pitchFamily="34" charset="-122"/>
                          <a:cs typeface="IBM Plex Sans" pitchFamily="34" charset="-120"/>
                        </a:rPr>
                        <a:t>POST /api/shares/:id/access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4202B"/>
                          </a:solidFill>
                          <a:latin typeface="IBM Plex Sans" pitchFamily="34" charset="0"/>
                          <a:ea typeface="IBM Plex Sans" pitchFamily="34" charset="-122"/>
                          <a:cs typeface="IBM Plex Sans" pitchFamily="34" charset="-120"/>
                        </a:rPr>
                        <a:t>Checks the record exists, is not expired, not locked, and the code is correct; runs HeadObject, then signs a GET URL for 60 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4202B"/>
                          </a:solidFill>
                          <a:latin typeface="IBM Plex Sans" pitchFamily="34" charset="0"/>
                          <a:ea typeface="IBM Plex Sans" pitchFamily="34" charset="-122"/>
                          <a:cs typeface="IBM Plex Sans" pitchFamily="34" charset="-120"/>
                        </a:rPr>
                        <a:t>200 · 403 · 404 · 410 · 429 · 500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5" name="Text 2"/>
          <p:cNvSpPr/>
          <p:nvPr/>
        </p:nvSpPr>
        <p:spPr>
          <a:xfrm>
            <a:off x="812800" y="4347666"/>
            <a:ext cx="1391940" cy="340320"/>
          </a:xfrm>
          <a:prstGeom prst="roundRect">
            <a:avLst>
              <a:gd name="adj" fmla="val 14927"/>
            </a:avLst>
          </a:prstGeom>
          <a:solidFill>
            <a:srgbClr val="ECE7DD"/>
          </a:solidFill>
          <a:ln/>
        </p:spPr>
        <p:txBody>
          <a:bodyPr wrap="none" lIns="0" tIns="0" rIns="0" bIns="0" rtlCol="0" anchor="ctr">
            <a:normAutofit/>
          </a:bodyPr>
          <a:lstStyle/>
          <a:p>
            <a:pPr algn="ctr" indent="0" marL="0">
              <a:lnSpc>
                <a:spcPts val="1680"/>
              </a:lnSpc>
              <a:buNone/>
            </a:pPr>
            <a:r>
              <a:rPr lang="en-US" sz="1200" dirty="0">
                <a:solidFill>
                  <a:srgbClr val="14202B"/>
                </a:solidFill>
                <a:latin typeface="JetBrains Mono" pitchFamily="49" charset="0"/>
                <a:ea typeface="JetBrains Mono" pitchFamily="49" charset="-122"/>
                <a:cs typeface="JetBrains Mono" pitchFamily="49" charset="-120"/>
              </a:rPr>
              <a:t>TTL_MS = 24 h</a:t>
            </a:r>
            <a:endParaRPr lang="en-US" sz="1200" dirty="0"/>
          </a:p>
        </p:txBody>
      </p:sp>
      <p:sp>
        <p:nvSpPr>
          <p:cNvPr id="6" name="Text 3"/>
          <p:cNvSpPr/>
          <p:nvPr/>
        </p:nvSpPr>
        <p:spPr>
          <a:xfrm>
            <a:off x="2306340" y="4347666"/>
            <a:ext cx="1666280" cy="340320"/>
          </a:xfrm>
          <a:prstGeom prst="roundRect">
            <a:avLst>
              <a:gd name="adj" fmla="val 14927"/>
            </a:avLst>
          </a:prstGeom>
          <a:solidFill>
            <a:srgbClr val="ECE7DD"/>
          </a:solidFill>
          <a:ln/>
        </p:spPr>
        <p:txBody>
          <a:bodyPr wrap="none" lIns="0" tIns="0" rIns="0" bIns="0" rtlCol="0" anchor="ctr">
            <a:normAutofit/>
          </a:bodyPr>
          <a:lstStyle/>
          <a:p>
            <a:pPr algn="ctr" indent="0" marL="0">
              <a:lnSpc>
                <a:spcPts val="1680"/>
              </a:lnSpc>
              <a:buNone/>
            </a:pPr>
            <a:r>
              <a:rPr lang="en-US" sz="1200" dirty="0">
                <a:solidFill>
                  <a:srgbClr val="14202B"/>
                </a:solidFill>
                <a:latin typeface="JetBrains Mono" pitchFamily="49" charset="0"/>
                <a:ea typeface="JetBrains Mono" pitchFamily="49" charset="-122"/>
                <a:cs typeface="JetBrains Mono" pitchFamily="49" charset="-120"/>
              </a:rPr>
              <a:t>MAX_SIZE = 10 MB</a:t>
            </a:r>
            <a:endParaRPr lang="en-US" sz="1200" dirty="0"/>
          </a:p>
        </p:txBody>
      </p:sp>
      <p:sp>
        <p:nvSpPr>
          <p:cNvPr id="7" name="Text 4"/>
          <p:cNvSpPr/>
          <p:nvPr/>
        </p:nvSpPr>
        <p:spPr>
          <a:xfrm>
            <a:off x="4074220" y="4347666"/>
            <a:ext cx="1666280" cy="340320"/>
          </a:xfrm>
          <a:prstGeom prst="roundRect">
            <a:avLst>
              <a:gd name="adj" fmla="val 14927"/>
            </a:avLst>
          </a:prstGeom>
          <a:solidFill>
            <a:srgbClr val="ECE7DD"/>
          </a:solidFill>
          <a:ln/>
        </p:spPr>
        <p:txBody>
          <a:bodyPr wrap="none" lIns="0" tIns="0" rIns="0" bIns="0" rtlCol="0" anchor="ctr">
            <a:normAutofit/>
          </a:bodyPr>
          <a:lstStyle/>
          <a:p>
            <a:pPr algn="ctr" indent="0" marL="0">
              <a:lnSpc>
                <a:spcPts val="1680"/>
              </a:lnSpc>
              <a:buNone/>
            </a:pPr>
            <a:r>
              <a:rPr lang="en-US" sz="1200" dirty="0">
                <a:solidFill>
                  <a:srgbClr val="14202B"/>
                </a:solidFill>
                <a:latin typeface="JetBrains Mono" pitchFamily="49" charset="0"/>
                <a:ea typeface="JetBrains Mono" pitchFamily="49" charset="-122"/>
                <a:cs typeface="JetBrains Mono" pitchFamily="49" charset="-120"/>
              </a:rPr>
              <a:t>MAX_ATTEMPTS = 5</a:t>
            </a:r>
            <a:endParaRPr lang="en-US" sz="1200" dirty="0"/>
          </a:p>
        </p:txBody>
      </p:sp>
      <p:sp>
        <p:nvSpPr>
          <p:cNvPr id="8" name="Text 5"/>
          <p:cNvSpPr/>
          <p:nvPr/>
        </p:nvSpPr>
        <p:spPr>
          <a:xfrm>
            <a:off x="5842099" y="4347666"/>
            <a:ext cx="1483420" cy="340320"/>
          </a:xfrm>
          <a:prstGeom prst="roundRect">
            <a:avLst>
              <a:gd name="adj" fmla="val 14927"/>
            </a:avLst>
          </a:prstGeom>
          <a:solidFill>
            <a:srgbClr val="ECE7DD"/>
          </a:solidFill>
          <a:ln/>
        </p:spPr>
        <p:txBody>
          <a:bodyPr wrap="none" lIns="0" tIns="0" rIns="0" bIns="0" rtlCol="0" anchor="ctr">
            <a:normAutofit/>
          </a:bodyPr>
          <a:lstStyle/>
          <a:p>
            <a:pPr algn="ctr" indent="0" marL="0">
              <a:lnSpc>
                <a:spcPts val="1680"/>
              </a:lnSpc>
              <a:buNone/>
            </a:pPr>
            <a:r>
              <a:rPr lang="en-US" sz="1200" dirty="0">
                <a:solidFill>
                  <a:srgbClr val="14202B"/>
                </a:solidFill>
                <a:latin typeface="JetBrains Mono" pitchFamily="49" charset="0"/>
                <a:ea typeface="JetBrains Mono" pitchFamily="49" charset="-122"/>
                <a:cs typeface="JetBrains Mono" pitchFamily="49" charset="-120"/>
              </a:rPr>
              <a:t>PUT URL: 300 s</a:t>
            </a:r>
            <a:endParaRPr lang="en-US" sz="1200" dirty="0"/>
          </a:p>
        </p:txBody>
      </p:sp>
      <p:sp>
        <p:nvSpPr>
          <p:cNvPr id="9" name="Text 6"/>
          <p:cNvSpPr/>
          <p:nvPr/>
        </p:nvSpPr>
        <p:spPr>
          <a:xfrm>
            <a:off x="7427119" y="4347666"/>
            <a:ext cx="1391940" cy="340320"/>
          </a:xfrm>
          <a:prstGeom prst="roundRect">
            <a:avLst>
              <a:gd name="adj" fmla="val 14927"/>
            </a:avLst>
          </a:prstGeom>
          <a:solidFill>
            <a:srgbClr val="ECE7DD"/>
          </a:solidFill>
          <a:ln/>
        </p:spPr>
        <p:txBody>
          <a:bodyPr wrap="none" lIns="0" tIns="0" rIns="0" bIns="0" rtlCol="0" anchor="ctr">
            <a:normAutofit/>
          </a:bodyPr>
          <a:lstStyle/>
          <a:p>
            <a:pPr algn="ctr" indent="0" marL="0">
              <a:lnSpc>
                <a:spcPts val="1680"/>
              </a:lnSpc>
              <a:buNone/>
            </a:pPr>
            <a:r>
              <a:rPr lang="en-US" sz="1200" dirty="0">
                <a:solidFill>
                  <a:srgbClr val="14202B"/>
                </a:solidFill>
                <a:latin typeface="JetBrains Mono" pitchFamily="49" charset="0"/>
                <a:ea typeface="JetBrains Mono" pitchFamily="49" charset="-122"/>
                <a:cs typeface="JetBrains Mono" pitchFamily="49" charset="-120"/>
              </a:rPr>
              <a:t>GET URL: 60 s</a:t>
            </a:r>
            <a:endParaRPr lang="en-US" sz="1200" dirty="0"/>
          </a:p>
        </p:txBody>
      </p:sp>
      <p:sp>
        <p:nvSpPr>
          <p:cNvPr id="10" name="Text 7"/>
          <p:cNvSpPr/>
          <p:nvPr/>
        </p:nvSpPr>
        <p:spPr>
          <a:xfrm>
            <a:off x="812800" y="6238280"/>
            <a:ext cx="34882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TempShare · S3 presigned URLs practicum</a:t>
            </a:r>
            <a:endParaRPr lang="en-US" sz="1200" dirty="0"/>
          </a:p>
        </p:txBody>
      </p:sp>
      <p:sp>
        <p:nvSpPr>
          <p:cNvPr id="11" name="Text 8"/>
          <p:cNvSpPr/>
          <p:nvPr/>
        </p:nvSpPr>
        <p:spPr>
          <a:xfrm>
            <a:off x="11145441" y="62382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20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A35E"/>
                </a:solidFill>
                <a:latin typeface="IBM Plex Sans" pitchFamily="34" charset="0"/>
                <a:ea typeface="IBM Plex Sans" pitchFamily="34" charset="-122"/>
                <a:cs typeface="IBM Plex Sans" pitchFamily="34" charset="-120"/>
              </a:rPr>
              <a:t>PART 3 · BACKEND</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5F3EE"/>
                </a:solidFill>
                <a:latin typeface="IBM Plex Sans" pitchFamily="34" charset="0"/>
                <a:ea typeface="IBM Plex Sans" pitchFamily="34" charset="-122"/>
                <a:cs typeface="IBM Plex Sans" pitchFamily="34" charset="-120"/>
              </a:rPr>
              <a:t>Security choices in the code</a:t>
            </a:r>
            <a:endParaRPr lang="en-US" sz="3200" dirty="0"/>
          </a:p>
        </p:txBody>
      </p:sp>
      <p:sp>
        <p:nvSpPr>
          <p:cNvPr id="4" name="Shape 2"/>
          <p:cNvSpPr/>
          <p:nvPr/>
        </p:nvSpPr>
        <p:spPr>
          <a:xfrm>
            <a:off x="812800" y="1849041"/>
            <a:ext cx="3386634" cy="1843683"/>
          </a:xfrm>
          <a:prstGeom prst="roundRect">
            <a:avLst>
              <a:gd name="adj" fmla="val 5511"/>
            </a:avLst>
          </a:prstGeom>
          <a:solidFill>
            <a:srgbClr val="1D2D3B"/>
          </a:solidFill>
          <a:ln/>
        </p:spPr>
      </p:sp>
      <p:sp>
        <p:nvSpPr>
          <p:cNvPr id="5" name="Text 3"/>
          <p:cNvSpPr/>
          <p:nvPr/>
        </p:nvSpPr>
        <p:spPr>
          <a:xfrm>
            <a:off x="1041400" y="2077641"/>
            <a:ext cx="30173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A35E"/>
                </a:solidFill>
                <a:latin typeface="JetBrains Mono" pitchFamily="49" charset="0"/>
                <a:ea typeface="JetBrains Mono" pitchFamily="49" charset="-122"/>
                <a:cs typeface="JetBrains Mono" pitchFamily="49" charset="-120"/>
              </a:rPr>
              <a:t>randomBytes(9)</a:t>
            </a:r>
            <a:endParaRPr lang="en-US" sz="1200" dirty="0"/>
          </a:p>
        </p:txBody>
      </p:sp>
      <p:sp>
        <p:nvSpPr>
          <p:cNvPr id="6" name="Text 4"/>
          <p:cNvSpPr/>
          <p:nvPr/>
        </p:nvSpPr>
        <p:spPr>
          <a:xfrm>
            <a:off x="1041400" y="2367161"/>
            <a:ext cx="301731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3EE"/>
                </a:solidFill>
                <a:latin typeface="IBM Plex Sans" pitchFamily="34" charset="0"/>
                <a:ea typeface="IBM Plex Sans" pitchFamily="34" charset="-122"/>
                <a:cs typeface="IBM Plex Sans" pitchFamily="34" charset="-120"/>
              </a:rPr>
              <a:t>Unguessable ID</a:t>
            </a:r>
            <a:endParaRPr lang="en-US" sz="1800" dirty="0"/>
          </a:p>
        </p:txBody>
      </p:sp>
      <p:sp>
        <p:nvSpPr>
          <p:cNvPr id="7" name="Text 5"/>
          <p:cNvSpPr/>
          <p:nvPr/>
        </p:nvSpPr>
        <p:spPr>
          <a:xfrm>
            <a:off x="1041400" y="2717602"/>
            <a:ext cx="3017317"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4CE"/>
                </a:solidFill>
                <a:latin typeface="IBM Plex Sans" pitchFamily="34" charset="0"/>
                <a:ea typeface="IBM Plex Sans" pitchFamily="34" charset="-122"/>
                <a:cs typeface="IBM Plex Sans" pitchFamily="34" charset="-120"/>
              </a:rPr>
              <a:t>12 base64url characters, not a counter, so links can't be enumerated.</a:t>
            </a:r>
            <a:endParaRPr lang="en-US" sz="1400" dirty="0"/>
          </a:p>
        </p:txBody>
      </p:sp>
      <p:sp>
        <p:nvSpPr>
          <p:cNvPr id="8" name="Shape 6"/>
          <p:cNvSpPr/>
          <p:nvPr/>
        </p:nvSpPr>
        <p:spPr>
          <a:xfrm>
            <a:off x="4402634" y="1849041"/>
            <a:ext cx="3386634" cy="1843683"/>
          </a:xfrm>
          <a:prstGeom prst="roundRect">
            <a:avLst>
              <a:gd name="adj" fmla="val 5511"/>
            </a:avLst>
          </a:prstGeom>
          <a:solidFill>
            <a:srgbClr val="1D2D3B"/>
          </a:solidFill>
          <a:ln/>
        </p:spPr>
      </p:sp>
      <p:sp>
        <p:nvSpPr>
          <p:cNvPr id="9" name="Text 7"/>
          <p:cNvSpPr/>
          <p:nvPr/>
        </p:nvSpPr>
        <p:spPr>
          <a:xfrm>
            <a:off x="4631234" y="2077641"/>
            <a:ext cx="30173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A35E"/>
                </a:solidFill>
                <a:latin typeface="JetBrains Mono" pitchFamily="49" charset="0"/>
                <a:ea typeface="JetBrains Mono" pitchFamily="49" charset="-122"/>
                <a:cs typeface="JetBrains Mono" pitchFamily="49" charset="-120"/>
              </a:rPr>
              <a:t>randomInt(ALPHABET.length)</a:t>
            </a:r>
            <a:endParaRPr lang="en-US" sz="1200" dirty="0"/>
          </a:p>
        </p:txBody>
      </p:sp>
      <p:sp>
        <p:nvSpPr>
          <p:cNvPr id="10" name="Text 8"/>
          <p:cNvSpPr/>
          <p:nvPr/>
        </p:nvSpPr>
        <p:spPr>
          <a:xfrm>
            <a:off x="4631234" y="2367161"/>
            <a:ext cx="301731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3EE"/>
                </a:solidFill>
                <a:latin typeface="IBM Plex Sans" pitchFamily="34" charset="0"/>
                <a:ea typeface="IBM Plex Sans" pitchFamily="34" charset="-122"/>
                <a:cs typeface="IBM Plex Sans" pitchFamily="34" charset="-120"/>
              </a:rPr>
              <a:t>Readable code</a:t>
            </a:r>
            <a:endParaRPr lang="en-US" sz="1800" dirty="0"/>
          </a:p>
        </p:txBody>
      </p:sp>
      <p:sp>
        <p:nvSpPr>
          <p:cNvPr id="11" name="Text 9"/>
          <p:cNvSpPr/>
          <p:nvPr/>
        </p:nvSpPr>
        <p:spPr>
          <a:xfrm>
            <a:off x="4631234" y="2717602"/>
            <a:ext cx="301731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4CE"/>
                </a:solidFill>
                <a:latin typeface="IBM Plex Sans" pitchFamily="34" charset="0"/>
                <a:ea typeface="IBM Plex Sans" pitchFamily="34" charset="-122"/>
                <a:cs typeface="IBM Plex Sans" pitchFamily="34" charset="-120"/>
              </a:rPr>
              <a:t>8 characters from a 32-letter alphabet without 0/O/1/I.</a:t>
            </a:r>
            <a:endParaRPr lang="en-US" sz="1400" dirty="0"/>
          </a:p>
        </p:txBody>
      </p:sp>
      <p:sp>
        <p:nvSpPr>
          <p:cNvPr id="12" name="Shape 10"/>
          <p:cNvSpPr/>
          <p:nvPr/>
        </p:nvSpPr>
        <p:spPr>
          <a:xfrm>
            <a:off x="7992467" y="1849041"/>
            <a:ext cx="3386634" cy="1843683"/>
          </a:xfrm>
          <a:prstGeom prst="roundRect">
            <a:avLst>
              <a:gd name="adj" fmla="val 5511"/>
            </a:avLst>
          </a:prstGeom>
          <a:solidFill>
            <a:srgbClr val="1D2D3B"/>
          </a:solidFill>
          <a:ln/>
        </p:spPr>
      </p:sp>
      <p:sp>
        <p:nvSpPr>
          <p:cNvPr id="13" name="Text 11"/>
          <p:cNvSpPr/>
          <p:nvPr/>
        </p:nvSpPr>
        <p:spPr>
          <a:xfrm>
            <a:off x="8221067" y="2077641"/>
            <a:ext cx="30173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A35E"/>
                </a:solidFill>
                <a:latin typeface="JetBrains Mono" pitchFamily="49" charset="0"/>
                <a:ea typeface="JetBrains Mono" pitchFamily="49" charset="-122"/>
                <a:cs typeface="JetBrains Mono" pitchFamily="49" charset="-120"/>
              </a:rPr>
              <a:t>scryptSync(code, salt)</a:t>
            </a:r>
            <a:endParaRPr lang="en-US" sz="1200" dirty="0"/>
          </a:p>
        </p:txBody>
      </p:sp>
      <p:sp>
        <p:nvSpPr>
          <p:cNvPr id="14" name="Text 12"/>
          <p:cNvSpPr/>
          <p:nvPr/>
        </p:nvSpPr>
        <p:spPr>
          <a:xfrm>
            <a:off x="8221067" y="2367161"/>
            <a:ext cx="301731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3EE"/>
                </a:solidFill>
                <a:latin typeface="IBM Plex Sans" pitchFamily="34" charset="0"/>
                <a:ea typeface="IBM Plex Sans" pitchFamily="34" charset="-122"/>
                <a:cs typeface="IBM Plex Sans" pitchFamily="34" charset="-120"/>
              </a:rPr>
              <a:t>Hashed, not stored</a:t>
            </a:r>
            <a:endParaRPr lang="en-US" sz="1800" dirty="0"/>
          </a:p>
        </p:txBody>
      </p:sp>
      <p:sp>
        <p:nvSpPr>
          <p:cNvPr id="15" name="Text 13"/>
          <p:cNvSpPr/>
          <p:nvPr/>
        </p:nvSpPr>
        <p:spPr>
          <a:xfrm>
            <a:off x="8221067" y="2717602"/>
            <a:ext cx="301731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4CE"/>
                </a:solidFill>
                <a:latin typeface="IBM Plex Sans" pitchFamily="34" charset="0"/>
                <a:ea typeface="IBM Plex Sans" pitchFamily="34" charset="-122"/>
                <a:cs typeface="IBM Plex Sans" pitchFamily="34" charset="-120"/>
              </a:rPr>
              <a:t>16-byte random salt; only the hash is kept in the record.</a:t>
            </a:r>
            <a:endParaRPr lang="en-US" sz="1400" dirty="0"/>
          </a:p>
        </p:txBody>
      </p:sp>
      <p:sp>
        <p:nvSpPr>
          <p:cNvPr id="16" name="Shape 14"/>
          <p:cNvSpPr/>
          <p:nvPr/>
        </p:nvSpPr>
        <p:spPr>
          <a:xfrm>
            <a:off x="812800" y="3895923"/>
            <a:ext cx="3386634" cy="1594842"/>
          </a:xfrm>
          <a:prstGeom prst="roundRect">
            <a:avLst>
              <a:gd name="adj" fmla="val 6371"/>
            </a:avLst>
          </a:prstGeom>
          <a:solidFill>
            <a:srgbClr val="1D2D3B"/>
          </a:solidFill>
          <a:ln/>
        </p:spPr>
      </p:sp>
      <p:sp>
        <p:nvSpPr>
          <p:cNvPr id="17" name="Text 15"/>
          <p:cNvSpPr/>
          <p:nvPr/>
        </p:nvSpPr>
        <p:spPr>
          <a:xfrm>
            <a:off x="1041400" y="4124523"/>
            <a:ext cx="30173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A35E"/>
                </a:solidFill>
                <a:latin typeface="JetBrains Mono" pitchFamily="49" charset="0"/>
                <a:ea typeface="JetBrains Mono" pitchFamily="49" charset="-122"/>
                <a:cs typeface="JetBrains Mono" pitchFamily="49" charset="-120"/>
              </a:rPr>
              <a:t>timingSafeEqual()</a:t>
            </a:r>
            <a:endParaRPr lang="en-US" sz="1200" dirty="0"/>
          </a:p>
        </p:txBody>
      </p:sp>
      <p:sp>
        <p:nvSpPr>
          <p:cNvPr id="18" name="Text 16"/>
          <p:cNvSpPr/>
          <p:nvPr/>
        </p:nvSpPr>
        <p:spPr>
          <a:xfrm>
            <a:off x="1041400" y="4414044"/>
            <a:ext cx="301731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3EE"/>
                </a:solidFill>
                <a:latin typeface="IBM Plex Sans" pitchFamily="34" charset="0"/>
                <a:ea typeface="IBM Plex Sans" pitchFamily="34" charset="-122"/>
                <a:cs typeface="IBM Plex Sans" pitchFamily="34" charset="-120"/>
              </a:rPr>
              <a:t>Constant-time check</a:t>
            </a:r>
            <a:endParaRPr lang="en-US" sz="1800" dirty="0"/>
          </a:p>
        </p:txBody>
      </p:sp>
      <p:sp>
        <p:nvSpPr>
          <p:cNvPr id="19" name="Text 17"/>
          <p:cNvSpPr/>
          <p:nvPr/>
        </p:nvSpPr>
        <p:spPr>
          <a:xfrm>
            <a:off x="1041400" y="4764484"/>
            <a:ext cx="301731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4CE"/>
                </a:solidFill>
                <a:latin typeface="IBM Plex Sans" pitchFamily="34" charset="0"/>
                <a:ea typeface="IBM Plex Sans" pitchFamily="34" charset="-122"/>
                <a:cs typeface="IBM Plex Sans" pitchFamily="34" charset="-120"/>
              </a:rPr>
              <a:t>Response time reveals nothing about how close a guess was.</a:t>
            </a:r>
            <a:endParaRPr lang="en-US" sz="1400" dirty="0"/>
          </a:p>
        </p:txBody>
      </p:sp>
      <p:sp>
        <p:nvSpPr>
          <p:cNvPr id="20" name="Shape 18"/>
          <p:cNvSpPr/>
          <p:nvPr/>
        </p:nvSpPr>
        <p:spPr>
          <a:xfrm>
            <a:off x="4402634" y="3895923"/>
            <a:ext cx="3386634" cy="1594842"/>
          </a:xfrm>
          <a:prstGeom prst="roundRect">
            <a:avLst>
              <a:gd name="adj" fmla="val 6371"/>
            </a:avLst>
          </a:prstGeom>
          <a:solidFill>
            <a:srgbClr val="1D2D3B"/>
          </a:solidFill>
          <a:ln/>
        </p:spPr>
      </p:sp>
      <p:sp>
        <p:nvSpPr>
          <p:cNvPr id="21" name="Text 19"/>
          <p:cNvSpPr/>
          <p:nvPr/>
        </p:nvSpPr>
        <p:spPr>
          <a:xfrm>
            <a:off x="4631234" y="4124523"/>
            <a:ext cx="30173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A35E"/>
                </a:solidFill>
                <a:latin typeface="JetBrains Mono" pitchFamily="49" charset="0"/>
                <a:ea typeface="JetBrains Mono" pitchFamily="49" charset="-122"/>
                <a:cs typeface="JetBrains Mono" pitchFamily="49" charset="-120"/>
              </a:rPr>
              <a:t>MAX_ATTEMPTS = 5</a:t>
            </a:r>
            <a:endParaRPr lang="en-US" sz="1200" dirty="0"/>
          </a:p>
        </p:txBody>
      </p:sp>
      <p:sp>
        <p:nvSpPr>
          <p:cNvPr id="22" name="Text 20"/>
          <p:cNvSpPr/>
          <p:nvPr/>
        </p:nvSpPr>
        <p:spPr>
          <a:xfrm>
            <a:off x="4631234" y="4414044"/>
            <a:ext cx="301731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3EE"/>
                </a:solidFill>
                <a:latin typeface="IBM Plex Sans" pitchFamily="34" charset="0"/>
                <a:ea typeface="IBM Plex Sans" pitchFamily="34" charset="-122"/>
                <a:cs typeface="IBM Plex Sans" pitchFamily="34" charset="-120"/>
              </a:rPr>
              <a:t>Lock after 5 misses</a:t>
            </a:r>
            <a:endParaRPr lang="en-US" sz="1800" dirty="0"/>
          </a:p>
        </p:txBody>
      </p:sp>
      <p:sp>
        <p:nvSpPr>
          <p:cNvPr id="23" name="Text 21"/>
          <p:cNvSpPr/>
          <p:nvPr/>
        </p:nvSpPr>
        <p:spPr>
          <a:xfrm>
            <a:off x="4631234" y="4764484"/>
            <a:ext cx="301731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4CE"/>
                </a:solidFill>
                <a:latin typeface="IBM Plex Sans" pitchFamily="34" charset="0"/>
                <a:ea typeface="IBM Plex Sans" pitchFamily="34" charset="-122"/>
                <a:cs typeface="IBM Plex Sans" pitchFamily="34" charset="-120"/>
              </a:rPr>
              <a:t>After five wrong codes, every try gets HTTP 429.</a:t>
            </a:r>
            <a:endParaRPr lang="en-US" sz="1400" dirty="0"/>
          </a:p>
        </p:txBody>
      </p:sp>
      <p:sp>
        <p:nvSpPr>
          <p:cNvPr id="24" name="Shape 22"/>
          <p:cNvSpPr/>
          <p:nvPr/>
        </p:nvSpPr>
        <p:spPr>
          <a:xfrm>
            <a:off x="7992467" y="3895923"/>
            <a:ext cx="3386634" cy="1594842"/>
          </a:xfrm>
          <a:prstGeom prst="roundRect">
            <a:avLst>
              <a:gd name="adj" fmla="val 6371"/>
            </a:avLst>
          </a:prstGeom>
          <a:solidFill>
            <a:srgbClr val="1D2D3B"/>
          </a:solidFill>
          <a:ln/>
        </p:spPr>
      </p:sp>
      <p:sp>
        <p:nvSpPr>
          <p:cNvPr id="25" name="Text 23"/>
          <p:cNvSpPr/>
          <p:nvPr/>
        </p:nvSpPr>
        <p:spPr>
          <a:xfrm>
            <a:off x="8221067" y="4124523"/>
            <a:ext cx="30173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A35E"/>
                </a:solidFill>
                <a:latin typeface="JetBrains Mono" pitchFamily="49" charset="0"/>
                <a:ea typeface="JetBrains Mono" pitchFamily="49" charset="-122"/>
                <a:cs typeface="JetBrains Mono" pitchFamily="49" charset="-120"/>
              </a:rPr>
              <a:t>ContentType, ContentLength</a:t>
            </a:r>
            <a:endParaRPr lang="en-US" sz="1200" dirty="0"/>
          </a:p>
        </p:txBody>
      </p:sp>
      <p:sp>
        <p:nvSpPr>
          <p:cNvPr id="26" name="Text 24"/>
          <p:cNvSpPr/>
          <p:nvPr/>
        </p:nvSpPr>
        <p:spPr>
          <a:xfrm>
            <a:off x="8221067" y="4414044"/>
            <a:ext cx="301731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3EE"/>
                </a:solidFill>
                <a:latin typeface="IBM Plex Sans" pitchFamily="34" charset="0"/>
                <a:ea typeface="IBM Plex Sans" pitchFamily="34" charset="-122"/>
                <a:cs typeface="IBM Plex Sans" pitchFamily="34" charset="-120"/>
              </a:rPr>
              <a:t>Signed upload</a:t>
            </a:r>
            <a:endParaRPr lang="en-US" sz="1800" dirty="0"/>
          </a:p>
        </p:txBody>
      </p:sp>
      <p:sp>
        <p:nvSpPr>
          <p:cNvPr id="27" name="Text 25"/>
          <p:cNvSpPr/>
          <p:nvPr/>
        </p:nvSpPr>
        <p:spPr>
          <a:xfrm>
            <a:off x="8221067" y="4764484"/>
            <a:ext cx="301731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4CE"/>
                </a:solidFill>
                <a:latin typeface="IBM Plex Sans" pitchFamily="34" charset="0"/>
                <a:ea typeface="IBM Plex Sans" pitchFamily="34" charset="-122"/>
                <a:cs typeface="IBM Plex Sans" pitchFamily="34" charset="-120"/>
              </a:rPr>
              <a:t>Type and size are signed, so S3 rejects a different upload.</a:t>
            </a:r>
            <a:endParaRPr lang="en-US" sz="1400" dirty="0"/>
          </a:p>
        </p:txBody>
      </p:sp>
      <p:sp>
        <p:nvSpPr>
          <p:cNvPr id="28" name="Text 26"/>
          <p:cNvSpPr/>
          <p:nvPr/>
        </p:nvSpPr>
        <p:spPr>
          <a:xfrm>
            <a:off x="812800" y="6238280"/>
            <a:ext cx="34882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BAA"/>
                </a:solidFill>
                <a:latin typeface="IBM Plex Sans" pitchFamily="34" charset="0"/>
                <a:ea typeface="IBM Plex Sans" pitchFamily="34" charset="-122"/>
                <a:cs typeface="IBM Plex Sans" pitchFamily="34" charset="-120"/>
              </a:rPr>
              <a:t>TempShare · S3 presigned URLs practicum</a:t>
            </a:r>
            <a:endParaRPr lang="en-US" sz="1200" dirty="0"/>
          </a:p>
        </p:txBody>
      </p:sp>
      <p:sp>
        <p:nvSpPr>
          <p:cNvPr id="29" name="Text 27"/>
          <p:cNvSpPr/>
          <p:nvPr/>
        </p:nvSpPr>
        <p:spPr>
          <a:xfrm>
            <a:off x="11145441" y="62382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BAA"/>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B04F1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F8F0"/>
                </a:solidFill>
                <a:latin typeface="IBM Plex Sans" pitchFamily="34" charset="0"/>
                <a:ea typeface="IBM Plex Sans" pitchFamily="34" charset="-122"/>
                <a:cs typeface="IBM Plex Sans" pitchFamily="34" charset="-120"/>
              </a:rPr>
              <a:t>CHECKPOINT · PART 3</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FF8F0"/>
                </a:solidFill>
                <a:latin typeface="IBM Plex Sans" pitchFamily="34" charset="0"/>
                <a:ea typeface="IBM Plex Sans" pitchFamily="34" charset="-122"/>
                <a:cs typeface="IBM Plex Sans" pitchFamily="34" charset="-120"/>
              </a:rPr>
              <a:t>Before you move on</a:t>
            </a:r>
            <a:endParaRPr lang="en-US" sz="3200" dirty="0"/>
          </a:p>
        </p:txBody>
      </p:sp>
      <p:sp>
        <p:nvSpPr>
          <p:cNvPr id="4" name="Text 2"/>
          <p:cNvSpPr/>
          <p:nvPr/>
        </p:nvSpPr>
        <p:spPr>
          <a:xfrm>
            <a:off x="812800" y="1950641"/>
            <a:ext cx="4572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FF8F0"/>
                </a:solidFill>
                <a:latin typeface="JetBrains Mono" pitchFamily="49" charset="0"/>
                <a:ea typeface="JetBrains Mono" pitchFamily="49" charset="-122"/>
                <a:cs typeface="JetBrains Mono" pitchFamily="49" charset="-120"/>
              </a:rPr>
              <a:t>1</a:t>
            </a:r>
            <a:endParaRPr lang="en-US" sz="2000" dirty="0"/>
          </a:p>
        </p:txBody>
      </p:sp>
      <p:sp>
        <p:nvSpPr>
          <p:cNvPr id="5" name="Text 3"/>
          <p:cNvSpPr/>
          <p:nvPr/>
        </p:nvSpPr>
        <p:spPr>
          <a:xfrm>
            <a:off x="1422400" y="1956991"/>
            <a:ext cx="10255504"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FF8F0"/>
                </a:solidFill>
                <a:latin typeface="IBM Plex Sans" pitchFamily="34" charset="0"/>
                <a:ea typeface="IBM Plex Sans" pitchFamily="34" charset="-122"/>
                <a:cs typeface="IBM Plex Sans" pitchFamily="34" charset="-120"/>
              </a:rPr>
              <a:t>Why is the share ID generated with crypto.randomBytes and not a counter?</a:t>
            </a:r>
            <a:endParaRPr lang="en-US" sz="2000" dirty="0"/>
          </a:p>
        </p:txBody>
      </p:sp>
      <p:sp>
        <p:nvSpPr>
          <p:cNvPr id="6" name="Text 4"/>
          <p:cNvSpPr/>
          <p:nvPr/>
        </p:nvSpPr>
        <p:spPr>
          <a:xfrm>
            <a:off x="812800" y="2560241"/>
            <a:ext cx="4572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FF8F0"/>
                </a:solidFill>
                <a:latin typeface="JetBrains Mono" pitchFamily="49" charset="0"/>
                <a:ea typeface="JetBrains Mono" pitchFamily="49" charset="-122"/>
                <a:cs typeface="JetBrains Mono" pitchFamily="49" charset="-120"/>
              </a:rPr>
              <a:t>2</a:t>
            </a:r>
            <a:endParaRPr lang="en-US" sz="2000" dirty="0"/>
          </a:p>
        </p:txBody>
      </p:sp>
      <p:sp>
        <p:nvSpPr>
          <p:cNvPr id="7" name="Text 5"/>
          <p:cNvSpPr/>
          <p:nvPr/>
        </p:nvSpPr>
        <p:spPr>
          <a:xfrm>
            <a:off x="1422400" y="2566591"/>
            <a:ext cx="10255504"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FF8F0"/>
                </a:solidFill>
                <a:latin typeface="IBM Plex Sans" pitchFamily="34" charset="0"/>
                <a:ea typeface="IBM Plex Sans" pitchFamily="34" charset="-122"/>
                <a:cs typeface="IBM Plex Sans" pitchFamily="34" charset="-120"/>
              </a:rPr>
              <a:t>Why do we hash the code instead of storing it, and why use timingSafeEqual?</a:t>
            </a:r>
            <a:endParaRPr lang="en-US" sz="2000" dirty="0"/>
          </a:p>
        </p:txBody>
      </p:sp>
      <p:sp>
        <p:nvSpPr>
          <p:cNvPr id="8" name="Text 6"/>
          <p:cNvSpPr/>
          <p:nvPr/>
        </p:nvSpPr>
        <p:spPr>
          <a:xfrm>
            <a:off x="812800" y="3169841"/>
            <a:ext cx="4572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FF8F0"/>
                </a:solidFill>
                <a:latin typeface="JetBrains Mono" pitchFamily="49" charset="0"/>
                <a:ea typeface="JetBrains Mono" pitchFamily="49" charset="-122"/>
                <a:cs typeface="JetBrains Mono" pitchFamily="49" charset="-120"/>
              </a:rPr>
              <a:t>3</a:t>
            </a:r>
            <a:endParaRPr lang="en-US" sz="2000" dirty="0"/>
          </a:p>
        </p:txBody>
      </p:sp>
      <p:sp>
        <p:nvSpPr>
          <p:cNvPr id="9" name="Text 7"/>
          <p:cNvSpPr/>
          <p:nvPr/>
        </p:nvSpPr>
        <p:spPr>
          <a:xfrm>
            <a:off x="1422400" y="3176191"/>
            <a:ext cx="10255504"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FF8F0"/>
                </a:solidFill>
                <a:latin typeface="IBM Plex Sans" pitchFamily="34" charset="0"/>
                <a:ea typeface="IBM Plex Sans" pitchFamily="34" charset="-122"/>
                <a:cs typeface="IBM Plex Sans" pitchFamily="34" charset="-120"/>
              </a:rPr>
              <a:t>What does MAX_ATTEMPTS protect against, and what is its weakness? Hint: it is per link, not per client.</a:t>
            </a:r>
            <a:endParaRPr lang="en-US" sz="2000" dirty="0"/>
          </a:p>
        </p:txBody>
      </p:sp>
      <p:sp>
        <p:nvSpPr>
          <p:cNvPr id="10" name="Text 8"/>
          <p:cNvSpPr/>
          <p:nvPr/>
        </p:nvSpPr>
        <p:spPr>
          <a:xfrm>
            <a:off x="812800" y="6238280"/>
            <a:ext cx="34882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8F0"/>
                </a:solidFill>
                <a:latin typeface="IBM Plex Sans" pitchFamily="34" charset="0"/>
                <a:ea typeface="IBM Plex Sans" pitchFamily="34" charset="-122"/>
                <a:cs typeface="IBM Plex Sans" pitchFamily="34" charset="-120"/>
              </a:rPr>
              <a:t>TempShare · S3 presigned URLs practicum</a:t>
            </a:r>
            <a:endParaRPr lang="en-US" sz="1200" dirty="0"/>
          </a:p>
        </p:txBody>
      </p:sp>
      <p:sp>
        <p:nvSpPr>
          <p:cNvPr id="11" name="Text 9"/>
          <p:cNvSpPr/>
          <p:nvPr/>
        </p:nvSpPr>
        <p:spPr>
          <a:xfrm>
            <a:off x="11145441" y="62382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FF8F0"/>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F14"/>
                </a:solidFill>
                <a:latin typeface="IBM Plex Sans" pitchFamily="34" charset="0"/>
                <a:ea typeface="IBM Plex Sans" pitchFamily="34" charset="-122"/>
                <a:cs typeface="IBM Plex Sans" pitchFamily="34" charset="-120"/>
              </a:rPr>
              <a:t>PART 4 · FRONTEND · ABOUT 30 MIN</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IBM Plex Sans" pitchFamily="34" charset="0"/>
                <a:ea typeface="IBM Plex Sans" pitchFamily="34" charset="-122"/>
                <a:cs typeface="IBM Plex Sans" pitchFamily="34" charset="-120"/>
              </a:rPr>
              <a:t>Two static pages</a:t>
            </a:r>
            <a:endParaRPr lang="en-US" sz="3200" dirty="0"/>
          </a:p>
        </p:txBody>
      </p:sp>
      <p:sp>
        <p:nvSpPr>
          <p:cNvPr id="4" name="Shape 2"/>
          <p:cNvSpPr/>
          <p:nvPr/>
        </p:nvSpPr>
        <p:spPr>
          <a:xfrm>
            <a:off x="815975" y="1903016"/>
            <a:ext cx="5175250" cy="3064073"/>
          </a:xfrm>
          <a:prstGeom prst="roundRect">
            <a:avLst>
              <a:gd name="adj" fmla="val 3212"/>
            </a:avLst>
          </a:prstGeom>
          <a:solidFill>
            <a:srgbClr val="FFFDF8"/>
          </a:solidFill>
          <a:ln w="6350">
            <a:solidFill>
              <a:srgbClr val="DDD8CC"/>
            </a:solidFill>
            <a:prstDash val="solid"/>
          </a:ln>
        </p:spPr>
      </p:sp>
      <p:sp>
        <p:nvSpPr>
          <p:cNvPr id="5" name="Text 3"/>
          <p:cNvSpPr/>
          <p:nvPr/>
        </p:nvSpPr>
        <p:spPr>
          <a:xfrm>
            <a:off x="1073150" y="2160191"/>
            <a:ext cx="48007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4F14"/>
                </a:solidFill>
                <a:latin typeface="JetBrains Mono" pitchFamily="49" charset="0"/>
                <a:ea typeface="JetBrains Mono" pitchFamily="49" charset="-122"/>
                <a:cs typeface="JetBrains Mono" pitchFamily="49" charset="-120"/>
              </a:rPr>
              <a:t>public/index.html</a:t>
            </a:r>
            <a:endParaRPr lang="en-US" sz="1200" dirty="0"/>
          </a:p>
        </p:txBody>
      </p:sp>
      <p:sp>
        <p:nvSpPr>
          <p:cNvPr id="6" name="Text 4"/>
          <p:cNvSpPr/>
          <p:nvPr/>
        </p:nvSpPr>
        <p:spPr>
          <a:xfrm>
            <a:off x="1073150" y="2475111"/>
            <a:ext cx="480072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B"/>
                </a:solidFill>
                <a:latin typeface="IBM Plex Sans" pitchFamily="34" charset="0"/>
                <a:ea typeface="IBM Plex Sans" pitchFamily="34" charset="-122"/>
                <a:cs typeface="IBM Plex Sans" pitchFamily="34" charset="-120"/>
              </a:rPr>
              <a:t>Upload page</a:t>
            </a:r>
            <a:endParaRPr lang="en-US" sz="1800" dirty="0"/>
          </a:p>
        </p:txBody>
      </p:sp>
      <p:sp>
        <p:nvSpPr>
          <p:cNvPr id="7" name="Text 5"/>
          <p:cNvSpPr/>
          <p:nvPr/>
        </p:nvSpPr>
        <p:spPr>
          <a:xfrm>
            <a:off x="1130002" y="2850952"/>
            <a:ext cx="4736255" cy="1020763"/>
          </a:xfrm>
          <a:prstGeom prst="rect">
            <a:avLst/>
          </a:prstGeom>
          <a:noFill/>
          <a:ln/>
        </p:spPr>
        <p:txBody>
          <a:bodyPr wrap="square" lIns="0" tIns="0" rIns="0" bIns="0" rtlCol="0" anchor="t">
            <a:normAutofit/>
          </a:bodyPr>
          <a:lstStyle/>
          <a:p>
            <a:pPr algn="l" marL="197148" indent="-197148">
              <a:lnSpc>
                <a:spcPts val="1960"/>
              </a:lnSpc>
              <a:buSzPct val="100000"/>
              <a:buFontTx/>
              <a:buAutoNum type="arabicPeriod" startAt="1"/>
            </a:pPr>
            <a:r>
              <a:rPr lang="en-US" sz="1400" dirty="0">
                <a:solidFill>
                  <a:srgbClr val="44505C"/>
                </a:solidFill>
                <a:latin typeface="IBM Plex Sans" pitchFamily="34" charset="0"/>
                <a:ea typeface="IBM Plex Sans" pitchFamily="34" charset="-122"/>
                <a:cs typeface="IBM Plex Sans" pitchFamily="34" charset="-120"/>
              </a:rPr>
              <a:t>POST /api/uploads with filename, contentType and size</a:t>
            </a:r>
            <a:endParaRPr lang="en-US" sz="1400" dirty="0"/>
          </a:p>
          <a:p>
            <a:pPr algn="l" marL="197148" indent="-197148">
              <a:lnSpc>
                <a:spcPts val="1960"/>
              </a:lnSpc>
              <a:buSzPct val="100000"/>
              <a:buFontTx/>
              <a:buAutoNum type="arabicPeriod" startAt="1"/>
            </a:pPr>
            <a:r>
              <a:rPr lang="en-US" sz="1400" dirty="0">
                <a:solidFill>
                  <a:srgbClr val="44505C"/>
                </a:solidFill>
                <a:latin typeface="IBM Plex Sans" pitchFamily="34" charset="0"/>
                <a:ea typeface="IBM Plex Sans" pitchFamily="34" charset="-122"/>
                <a:cs typeface="IBM Plex Sans" pitchFamily="34" charset="-120"/>
              </a:rPr>
              <a:t>PUT the file to uploadUrl with the same Content-Type</a:t>
            </a:r>
            <a:endParaRPr lang="en-US" sz="1400" dirty="0"/>
          </a:p>
          <a:p>
            <a:pPr algn="l" marL="197148" indent="-197148">
              <a:lnSpc>
                <a:spcPts val="1960"/>
              </a:lnSpc>
              <a:buSzPct val="100000"/>
              <a:buFontTx/>
              <a:buAutoNum type="arabicPeriod" startAt="1"/>
            </a:pPr>
            <a:r>
              <a:rPr lang="en-US" sz="1400" dirty="0">
                <a:solidFill>
                  <a:srgbClr val="44505C"/>
                </a:solidFill>
                <a:latin typeface="IBM Plex Sans" pitchFamily="34" charset="0"/>
                <a:ea typeface="IBM Plex Sans" pitchFamily="34" charset="-122"/>
                <a:cs typeface="IBM Plex Sans" pitchFamily="34" charset="-120"/>
              </a:rPr>
              <a:t>Show the share link, the secret code and the expiry time</a:t>
            </a:r>
            <a:endParaRPr lang="en-US" sz="1400" dirty="0"/>
          </a:p>
        </p:txBody>
      </p:sp>
      <p:sp>
        <p:nvSpPr>
          <p:cNvPr id="8" name="Text 6"/>
          <p:cNvSpPr/>
          <p:nvPr/>
        </p:nvSpPr>
        <p:spPr>
          <a:xfrm>
            <a:off x="1073150" y="3947914"/>
            <a:ext cx="4660900" cy="762000"/>
          </a:xfrm>
          <a:prstGeom prst="roundRect">
            <a:avLst>
              <a:gd name="adj" fmla="val 10000"/>
            </a:avLst>
          </a:prstGeom>
          <a:solidFill>
            <a:srgbClr val="14202B"/>
          </a:solidFill>
          <a:ln/>
        </p:spPr>
        <p:txBody>
          <a:bodyPr wrap="square" lIns="130082" tIns="130082" rIns="0" bIns="104682" rtlCol="0" anchor="t">
            <a:normAutofit/>
          </a:bodyPr>
          <a:lstStyle/>
          <a:p>
            <a:pPr algn="l" indent="0" marL="0">
              <a:lnSpc>
                <a:spcPts val="1800"/>
              </a:lnSpc>
              <a:buNone/>
            </a:pPr>
            <a:r>
              <a:rPr lang="en-US" sz="1200" dirty="0">
                <a:solidFill>
                  <a:srgbClr val="E6EDF3"/>
                </a:solidFill>
                <a:latin typeface="JetBrains Mono" pitchFamily="49" charset="0"/>
                <a:ea typeface="JetBrains Mono" pitchFamily="49" charset="-122"/>
                <a:cs typeface="JetBrains Mono" pitchFamily="49" charset="-120"/>
              </a:rPr>
              <a:t>headers: { 'Content-Type': contentType }</a:t>
            </a:r>
            <a:endParaRPr lang="en-US" sz="1200" dirty="0"/>
          </a:p>
          <a:p>
            <a:pPr algn="l" indent="0" marL="0">
              <a:lnSpc>
                <a:spcPts val="1800"/>
              </a:lnSpc>
              <a:buNone/>
            </a:pPr>
            <a:r>
              <a:rPr lang="en-US" sz="1200" dirty="0">
                <a:solidFill>
                  <a:srgbClr val="8A9BAA"/>
                </a:solidFill>
                <a:latin typeface="JetBrains Mono" pitchFamily="49" charset="0"/>
                <a:ea typeface="JetBrains Mono" pitchFamily="49" charset="-122"/>
                <a:cs typeface="JetBrains Mono" pitchFamily="49" charset="-120"/>
              </a:rPr>
              <a:t>// must equal the signed type</a:t>
            </a:r>
            <a:endParaRPr lang="en-US" sz="1200" dirty="0"/>
          </a:p>
        </p:txBody>
      </p:sp>
      <p:sp>
        <p:nvSpPr>
          <p:cNvPr id="9" name="Shape 7"/>
          <p:cNvSpPr/>
          <p:nvPr/>
        </p:nvSpPr>
        <p:spPr>
          <a:xfrm>
            <a:off x="6200775" y="1903016"/>
            <a:ext cx="5175250" cy="3064073"/>
          </a:xfrm>
          <a:prstGeom prst="roundRect">
            <a:avLst>
              <a:gd name="adj" fmla="val 3212"/>
            </a:avLst>
          </a:prstGeom>
          <a:solidFill>
            <a:srgbClr val="FFFDF8"/>
          </a:solidFill>
          <a:ln w="6350">
            <a:solidFill>
              <a:srgbClr val="DDD8CC"/>
            </a:solidFill>
            <a:prstDash val="solid"/>
          </a:ln>
        </p:spPr>
      </p:sp>
      <p:sp>
        <p:nvSpPr>
          <p:cNvPr id="10" name="Text 8"/>
          <p:cNvSpPr/>
          <p:nvPr/>
        </p:nvSpPr>
        <p:spPr>
          <a:xfrm>
            <a:off x="6457950" y="2160191"/>
            <a:ext cx="48007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4F14"/>
                </a:solidFill>
                <a:latin typeface="JetBrains Mono" pitchFamily="49" charset="0"/>
                <a:ea typeface="JetBrains Mono" pitchFamily="49" charset="-122"/>
                <a:cs typeface="JetBrains Mono" pitchFamily="49" charset="-120"/>
              </a:rPr>
              <a:t>public/share.html</a:t>
            </a:r>
            <a:endParaRPr lang="en-US" sz="1200" dirty="0"/>
          </a:p>
        </p:txBody>
      </p:sp>
      <p:sp>
        <p:nvSpPr>
          <p:cNvPr id="11" name="Text 9"/>
          <p:cNvSpPr/>
          <p:nvPr/>
        </p:nvSpPr>
        <p:spPr>
          <a:xfrm>
            <a:off x="6457950" y="2475111"/>
            <a:ext cx="480072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B"/>
                </a:solidFill>
                <a:latin typeface="IBM Plex Sans" pitchFamily="34" charset="0"/>
                <a:ea typeface="IBM Plex Sans" pitchFamily="34" charset="-122"/>
                <a:cs typeface="IBM Plex Sans" pitchFamily="34" charset="-120"/>
              </a:rPr>
              <a:t>Download page</a:t>
            </a:r>
            <a:endParaRPr lang="en-US" sz="1800" dirty="0"/>
          </a:p>
        </p:txBody>
      </p:sp>
      <p:sp>
        <p:nvSpPr>
          <p:cNvPr id="12" name="Text 10"/>
          <p:cNvSpPr/>
          <p:nvPr/>
        </p:nvSpPr>
        <p:spPr>
          <a:xfrm>
            <a:off x="6514802" y="2850952"/>
            <a:ext cx="4736255" cy="1020763"/>
          </a:xfrm>
          <a:prstGeom prst="rect">
            <a:avLst/>
          </a:prstGeom>
          <a:noFill/>
          <a:ln/>
        </p:spPr>
        <p:txBody>
          <a:bodyPr wrap="square" lIns="0" tIns="0" rIns="0" bIns="0" rtlCol="0" anchor="t">
            <a:normAutofit/>
          </a:bodyPr>
          <a:lstStyle/>
          <a:p>
            <a:pPr algn="l" marL="197148" indent="-197148">
              <a:lnSpc>
                <a:spcPts val="1960"/>
              </a:lnSpc>
              <a:buSzPct val="100000"/>
              <a:buFontTx/>
              <a:buAutoNum type="arabicPeriod" startAt="1"/>
            </a:pPr>
            <a:r>
              <a:rPr lang="en-US" sz="1400" dirty="0">
                <a:solidFill>
                  <a:srgbClr val="44505C"/>
                </a:solidFill>
                <a:latin typeface="IBM Plex Sans" pitchFamily="34" charset="0"/>
                <a:ea typeface="IBM Plex Sans" pitchFamily="34" charset="-122"/>
                <a:cs typeface="IBM Plex Sans" pitchFamily="34" charset="-120"/>
              </a:rPr>
              <a:t>Read the share ID from location.pathname</a:t>
            </a:r>
            <a:endParaRPr lang="en-US" sz="1400" dirty="0"/>
          </a:p>
          <a:p>
            <a:pPr algn="l" marL="197148" indent="-197148">
              <a:lnSpc>
                <a:spcPts val="1960"/>
              </a:lnSpc>
              <a:buSzPct val="100000"/>
              <a:buFontTx/>
              <a:buAutoNum type="arabicPeriod" startAt="1"/>
            </a:pPr>
            <a:r>
              <a:rPr lang="en-US" sz="1400" dirty="0">
                <a:solidFill>
                  <a:srgbClr val="44505C"/>
                </a:solidFill>
                <a:latin typeface="IBM Plex Sans" pitchFamily="34" charset="0"/>
                <a:ea typeface="IBM Plex Sans" pitchFamily="34" charset="-122"/>
                <a:cs typeface="IBM Plex Sans" pitchFamily="34" charset="-120"/>
              </a:rPr>
              <a:t>POST the code to /api/shares/&lt;id&gt;/access</a:t>
            </a:r>
            <a:endParaRPr lang="en-US" sz="1400" dirty="0"/>
          </a:p>
          <a:p>
            <a:pPr algn="l" marL="197148" indent="-197148">
              <a:lnSpc>
                <a:spcPts val="1960"/>
              </a:lnSpc>
              <a:buSzPct val="100000"/>
              <a:buFontTx/>
              <a:buAutoNum type="arabicPeriod" startAt="1"/>
            </a:pPr>
            <a:r>
              <a:rPr lang="en-US" sz="1400" dirty="0">
                <a:solidFill>
                  <a:srgbClr val="44505C"/>
                </a:solidFill>
                <a:latin typeface="IBM Plex Sans" pitchFamily="34" charset="0"/>
                <a:ea typeface="IBM Plex Sans" pitchFamily="34" charset="-122"/>
                <a:cs typeface="IBM Plex Sans" pitchFamily="34" charset="-120"/>
              </a:rPr>
              <a:t>On success, follow downloadUrl; otherwise show the error</a:t>
            </a:r>
            <a:endParaRPr lang="en-US" sz="1400" dirty="0"/>
          </a:p>
        </p:txBody>
      </p:sp>
      <p:sp>
        <p:nvSpPr>
          <p:cNvPr id="13" name="Text 11"/>
          <p:cNvSpPr/>
          <p:nvPr/>
        </p:nvSpPr>
        <p:spPr>
          <a:xfrm>
            <a:off x="6457950" y="3947914"/>
            <a:ext cx="4660900" cy="762000"/>
          </a:xfrm>
          <a:prstGeom prst="roundRect">
            <a:avLst>
              <a:gd name="adj" fmla="val 10000"/>
            </a:avLst>
          </a:prstGeom>
          <a:solidFill>
            <a:srgbClr val="14202B"/>
          </a:solidFill>
          <a:ln/>
        </p:spPr>
        <p:txBody>
          <a:bodyPr wrap="square" lIns="130082" tIns="130082" rIns="0" bIns="104682" rtlCol="0" anchor="t">
            <a:normAutofit/>
          </a:bodyPr>
          <a:lstStyle/>
          <a:p>
            <a:pPr algn="l" indent="0" marL="0">
              <a:lnSpc>
                <a:spcPts val="1800"/>
              </a:lnSpc>
              <a:buNone/>
            </a:pPr>
            <a:r>
              <a:rPr lang="en-US" sz="1200" dirty="0">
                <a:solidFill>
                  <a:srgbClr val="E6EDF3"/>
                </a:solidFill>
                <a:latin typeface="JetBrains Mono" pitchFamily="49" charset="0"/>
                <a:ea typeface="JetBrains Mono" pitchFamily="49" charset="-122"/>
                <a:cs typeface="JetBrains Mono" pitchFamily="49" charset="-120"/>
              </a:rPr>
              <a:t>window.location = data.downloadUrl;</a:t>
            </a:r>
            <a:endParaRPr lang="en-US" sz="1200" dirty="0"/>
          </a:p>
          <a:p>
            <a:pPr algn="l" indent="0" marL="0">
              <a:lnSpc>
                <a:spcPts val="1800"/>
              </a:lnSpc>
              <a:buNone/>
            </a:pPr>
            <a:r>
              <a:rPr lang="en-US" sz="1200" dirty="0">
                <a:solidFill>
                  <a:srgbClr val="8A9BAA"/>
                </a:solidFill>
                <a:latin typeface="JetBrains Mono" pitchFamily="49" charset="0"/>
                <a:ea typeface="JetBrains Mono" pitchFamily="49" charset="-122"/>
                <a:cs typeface="JetBrains Mono" pitchFamily="49" charset="-120"/>
              </a:rPr>
              <a:t>// browser follows the 60-second URL</a:t>
            </a:r>
            <a:endParaRPr lang="en-US" sz="1200" dirty="0"/>
          </a:p>
        </p:txBody>
      </p:sp>
      <p:sp>
        <p:nvSpPr>
          <p:cNvPr id="14" name="Text 12"/>
          <p:cNvSpPr/>
          <p:nvPr/>
        </p:nvSpPr>
        <p:spPr>
          <a:xfrm>
            <a:off x="812800" y="6238280"/>
            <a:ext cx="34882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TempShare · S3 presigned URLs practicum</a:t>
            </a:r>
            <a:endParaRPr lang="en-US" sz="1200" dirty="0"/>
          </a:p>
        </p:txBody>
      </p:sp>
      <p:sp>
        <p:nvSpPr>
          <p:cNvPr id="15" name="Text 13"/>
          <p:cNvSpPr/>
          <p:nvPr/>
        </p:nvSpPr>
        <p:spPr>
          <a:xfrm>
            <a:off x="11145441" y="62382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F14"/>
                </a:solidFill>
                <a:latin typeface="IBM Plex Sans" pitchFamily="34" charset="0"/>
                <a:ea typeface="IBM Plex Sans" pitchFamily="34" charset="-122"/>
                <a:cs typeface="IBM Plex Sans" pitchFamily="34" charset="-120"/>
              </a:rPr>
              <a:t>PART 5 · RUN AND TEST · ABOUT 20 MIN</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IBM Plex Sans" pitchFamily="34" charset="0"/>
                <a:ea typeface="IBM Plex Sans" pitchFamily="34" charset="-122"/>
                <a:cs typeface="IBM Plex Sans" pitchFamily="34" charset="-120"/>
              </a:rPr>
              <a:t>Test checklist</a:t>
            </a:r>
            <a:endParaRPr lang="en-US" sz="3200" dirty="0"/>
          </a:p>
        </p:txBody>
      </p:sp>
      <p:sp>
        <p:nvSpPr>
          <p:cNvPr id="4" name="Text 2"/>
          <p:cNvSpPr/>
          <p:nvPr/>
        </p:nvSpPr>
        <p:spPr>
          <a:xfrm>
            <a:off x="812800" y="1823641"/>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Run npm start, open http://localhost:3000, and record each result in your report.</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313781"/>
          <a:ext cx="10553700" cy="2993231"/>
        </p:xfrm>
        <a:graphic>
          <a:graphicData uri="http://schemas.openxmlformats.org/drawingml/2006/table">
            <a:tbl>
              <a:tblPr/>
              <a:tblGrid>
                <a:gridCol w="633222"/>
                <a:gridCol w="5276850"/>
                <a:gridCol w="4643628"/>
              </a:tblGrid>
              <a:tr h="332581">
                <a:tc>
                  <a:txBody>
                    <a:bodyPr/>
                    <a:lstStyle/>
                    <a:p>
                      <a:pPr indent="0" marL="0">
                        <a:lnSpc>
                          <a:spcPts val="1680"/>
                        </a:lnSpc>
                        <a:buNone/>
                      </a:pPr>
                      <a:r>
                        <a:rPr lang="en-US" sz="1200" b="1" dirty="0">
                          <a:solidFill>
                            <a:srgbClr val="14202B"/>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BAB7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AB7B0"/>
                      </a:solidFill>
                      <a:prstDash val="solid"/>
                      <a:round/>
                      <a:headEnd type="none" w="med" len="med"/>
                      <a:tailEnd type="none" w="med" len="med"/>
                    </a:lnB>
                    <a:solidFill>
                      <a:srgbClr val="E9E5DC"/>
                    </a:solidFill>
                  </a:tcPr>
                </a:tc>
                <a:tc>
                  <a:txBody>
                    <a:bodyPr/>
                    <a:lstStyle/>
                    <a:p>
                      <a:pPr indent="0" marL="0">
                        <a:lnSpc>
                          <a:spcPts val="1680"/>
                        </a:lnSpc>
                        <a:buNone/>
                      </a:pPr>
                      <a:r>
                        <a:rPr lang="en-US" sz="1200" b="1" dirty="0">
                          <a:solidFill>
                            <a:srgbClr val="14202B"/>
                          </a:solidFill>
                          <a:latin typeface="IBM Plex Sans" pitchFamily="34" charset="0"/>
                          <a:ea typeface="IBM Plex Sans" pitchFamily="34" charset="-122"/>
                          <a:cs typeface="IBM Plex Sans" pitchFamily="34" charset="-120"/>
                        </a:rPr>
                        <a:t>Test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7B0"/>
                      </a:solidFill>
                      <a:prstDash val="solid"/>
                      <a:round/>
                      <a:headEnd type="none" w="med" len="med"/>
                      <a:tailEnd type="none" w="med" len="med"/>
                    </a:lnL>
                    <a:lnR w="12700" cap="flat" cmpd="sng" algn="ctr">
                      <a:solidFill>
                        <a:srgbClr val="BAB7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AB7B0"/>
                      </a:solidFill>
                      <a:prstDash val="solid"/>
                      <a:round/>
                      <a:headEnd type="none" w="med" len="med"/>
                      <a:tailEnd type="none" w="med" len="med"/>
                    </a:lnB>
                    <a:solidFill>
                      <a:srgbClr val="E9E5DC"/>
                    </a:solidFill>
                  </a:tcPr>
                </a:tc>
                <a:tc>
                  <a:txBody>
                    <a:bodyPr/>
                    <a:lstStyle/>
                    <a:p>
                      <a:pPr indent="0" marL="0">
                        <a:lnSpc>
                          <a:spcPts val="1680"/>
                        </a:lnSpc>
                        <a:buNone/>
                      </a:pPr>
                      <a:r>
                        <a:rPr lang="en-US" sz="1200" b="1" dirty="0">
                          <a:solidFill>
                            <a:srgbClr val="14202B"/>
                          </a:solidFill>
                          <a:latin typeface="IBM Plex Sans" pitchFamily="34" charset="0"/>
                          <a:ea typeface="IBM Plex Sans" pitchFamily="34" charset="-122"/>
                          <a:cs typeface="IBM Plex Sans" pitchFamily="34" charset="-120"/>
                        </a:rPr>
                        <a:t>Expected result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7B0"/>
                      </a:solidFill>
                      <a:prstDash val="solid"/>
                      <a:round/>
                      <a:headEnd type="none" w="med" len="med"/>
                      <a:tailEnd type="none" w="med" len="med"/>
                    </a:lnL>
                    <a:lnR w="12700" cap="flat" cmpd="sng" algn="ctr">
                      <a:solidFill>
                        <a:srgbClr val="BAB7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AB7B0"/>
                      </a:solidFill>
                      <a:prstDash val="solid"/>
                      <a:round/>
                      <a:headEnd type="none" w="med" len="med"/>
                      <a:tailEnd type="none" w="med" len="med"/>
                    </a:lnB>
                    <a:solidFill>
                      <a:srgbClr val="E9E5DC"/>
                    </a:solidFill>
                  </a:tcPr>
                </a:tc>
              </a:tr>
              <a:tr h="332581">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AB7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Upload a 1 MB file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AB7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Link and 8-character code are shown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AB7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Open uploads/ in the S3 console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Folder named after the share ID, with the file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Open the share link, enter the correct code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File downloads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Enter a wrong code 5 times, then the correct one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HTTP 429, link is locked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Upload an 11 MB file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Size error before reaching S3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Copy downloadUrl (network tab), wait 60+ s, open 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S3 returns AccessDenied / expired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Open the object's S3 URL directly, no signature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AccessDenied (bucket is private)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Set TTL_MS to 30 s, upload, wait, then download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HTTP 410, link expired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6" name="Text 3"/>
          <p:cNvSpPr/>
          <p:nvPr/>
        </p:nvSpPr>
        <p:spPr>
          <a:xfrm>
            <a:off x="812800" y="6238280"/>
            <a:ext cx="34882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TempShare · S3 presigned URLs practicum</a:t>
            </a:r>
            <a:endParaRPr lang="en-US" sz="1200" dirty="0"/>
          </a:p>
        </p:txBody>
      </p:sp>
      <p:sp>
        <p:nvSpPr>
          <p:cNvPr id="7" name="Text 4"/>
          <p:cNvSpPr/>
          <p:nvPr/>
        </p:nvSpPr>
        <p:spPr>
          <a:xfrm>
            <a:off x="11145441" y="62382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F14"/>
                </a:solidFill>
                <a:latin typeface="IBM Plex Sans" pitchFamily="34" charset="0"/>
                <a:ea typeface="IBM Plex Sans" pitchFamily="34" charset="-122"/>
                <a:cs typeface="IBM Plex Sans" pitchFamily="34" charset="-120"/>
              </a:rPr>
              <a:t>PART 5 · TROUBLESHOOTING</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IBM Plex Sans" pitchFamily="34" charset="0"/>
                <a:ea typeface="IBM Plex Sans" pitchFamily="34" charset="-122"/>
                <a:cs typeface="IBM Plex Sans" pitchFamily="34" charset="-120"/>
              </a:rPr>
              <a:t>When something fails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12541"/>
          <a:ext cx="10553700" cy="2745978"/>
        </p:xfrm>
        <a:graphic>
          <a:graphicData uri="http://schemas.openxmlformats.org/drawingml/2006/table">
            <a:tbl>
              <a:tblPr/>
              <a:tblGrid>
                <a:gridCol w="4221480"/>
                <a:gridCol w="6332220"/>
              </a:tblGrid>
              <a:tr h="359271">
                <a:tc>
                  <a:txBody>
                    <a:bodyPr/>
                    <a:lstStyle/>
                    <a:p>
                      <a:pPr indent="0" marL="0">
                        <a:lnSpc>
                          <a:spcPts val="1820"/>
                        </a:lnSpc>
                        <a:buNone/>
                      </a:pPr>
                      <a:r>
                        <a:rPr lang="en-US" sz="1300" b="1" dirty="0">
                          <a:solidFill>
                            <a:srgbClr val="14202B"/>
                          </a:solidFill>
                          <a:latin typeface="IBM Plex Sans" pitchFamily="34" charset="0"/>
                          <a:ea typeface="IBM Plex Sans" pitchFamily="34" charset="-122"/>
                          <a:cs typeface="IBM Plex Sans" pitchFamily="34" charset="-120"/>
                        </a:rPr>
                        <a:t>Symptom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BAB7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AB7B0"/>
                      </a:solidFill>
                      <a:prstDash val="solid"/>
                      <a:round/>
                      <a:headEnd type="none" w="med" len="med"/>
                      <a:tailEnd type="none" w="med" len="med"/>
                    </a:lnB>
                    <a:solidFill>
                      <a:srgbClr val="E9E5DC"/>
                    </a:solidFill>
                  </a:tcPr>
                </a:tc>
                <a:tc>
                  <a:txBody>
                    <a:bodyPr/>
                    <a:lstStyle/>
                    <a:p>
                      <a:pPr indent="0" marL="0">
                        <a:lnSpc>
                          <a:spcPts val="1820"/>
                        </a:lnSpc>
                        <a:buNone/>
                      </a:pPr>
                      <a:r>
                        <a:rPr lang="en-US" sz="1300" b="1" dirty="0">
                          <a:solidFill>
                            <a:srgbClr val="14202B"/>
                          </a:solidFill>
                          <a:latin typeface="IBM Plex Sans" pitchFamily="34" charset="0"/>
                          <a:ea typeface="IBM Plex Sans" pitchFamily="34" charset="-122"/>
                          <a:cs typeface="IBM Plex Sans" pitchFamily="34" charset="-120"/>
                        </a:rPr>
                        <a:t>Likely cause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7B0"/>
                      </a:solidFill>
                      <a:prstDash val="solid"/>
                      <a:round/>
                      <a:headEnd type="none" w="med" len="med"/>
                      <a:tailEnd type="none" w="med" len="med"/>
                    </a:lnL>
                    <a:lnR w="12700" cap="flat" cmpd="sng" algn="ctr">
                      <a:solidFill>
                        <a:srgbClr val="BAB7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AB7B0"/>
                      </a:solidFill>
                      <a:prstDash val="solid"/>
                      <a:round/>
                      <a:headEnd type="none" w="med" len="med"/>
                      <a:tailEnd type="none" w="med" len="med"/>
                    </a:lnB>
                    <a:solidFill>
                      <a:srgbClr val="E9E5DC"/>
                    </a:solidFill>
                  </a:tcPr>
                </a:tc>
              </a:tr>
              <a:tr h="359271">
                <a:tc>
                  <a:txBody>
                    <a:bodyPr/>
                    <a:lstStyle/>
                    <a:p>
                      <a:pPr indent="0" marL="0">
                        <a:lnSpc>
                          <a:spcPts val="1820"/>
                        </a:lnSpc>
                        <a:buNone/>
                      </a:pPr>
                      <a:r>
                        <a:rPr lang="en-US" sz="1300" dirty="0">
                          <a:solidFill>
                            <a:srgbClr val="14202B"/>
                          </a:solidFill>
                          <a:latin typeface="IBM Plex Sans" pitchFamily="34" charset="0"/>
                          <a:ea typeface="IBM Plex Sans" pitchFamily="34" charset="-122"/>
                          <a:cs typeface="IBM Plex Sans" pitchFamily="34" charset="-120"/>
                        </a:rPr>
                        <a:t>InvalidAccessKeyId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AB7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4202B"/>
                          </a:solidFill>
                          <a:latin typeface="IBM Plex Sans" pitchFamily="34" charset="0"/>
                          <a:ea typeface="IBM Plex Sans" pitchFamily="34" charset="-122"/>
                          <a:cs typeface="IBM Plex Sans" pitchFamily="34" charset="-120"/>
                        </a:rPr>
                        <a:t>.env still contains the dummy AWS example keys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AB7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202B"/>
                          </a:solidFill>
                          <a:latin typeface="IBM Plex Sans" pitchFamily="34" charset="0"/>
                          <a:ea typeface="IBM Plex Sans" pitchFamily="34" charset="-122"/>
                          <a:cs typeface="IBM Plex Sans" pitchFamily="34" charset="-120"/>
                        </a:rPr>
                        <a:t>SignatureDoesNotMatch on upload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4202B"/>
                          </a:solidFill>
                          <a:latin typeface="IBM Plex Sans" pitchFamily="34" charset="0"/>
                          <a:ea typeface="IBM Plex Sans" pitchFamily="34" charset="-122"/>
                          <a:cs typeface="IBM Plex Sans" pitchFamily="34" charset="-120"/>
                        </a:rPr>
                        <a:t>The PUT's Content-Type differs from the one that was signed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202B"/>
                          </a:solidFill>
                          <a:latin typeface="IBM Plex Sans" pitchFamily="34" charset="0"/>
                          <a:ea typeface="IBM Plex Sans" pitchFamily="34" charset="-122"/>
                          <a:cs typeface="IBM Plex Sans" pitchFamily="34" charset="-120"/>
                        </a:rPr>
                        <a:t>CORS error in the browser on upload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4202B"/>
                          </a:solidFill>
                          <a:latin typeface="IBM Plex Sans" pitchFamily="34" charset="0"/>
                          <a:ea typeface="IBM Plex Sans" pitchFamily="34" charset="-122"/>
                          <a:cs typeface="IBM Plex Sans" pitchFamily="34" charset="-120"/>
                        </a:rPr>
                        <a:t>Origin missing from the bucket CORS rule, or PUT not allowed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202B"/>
                          </a:solidFill>
                          <a:latin typeface="IBM Plex Sans" pitchFamily="34" charset="0"/>
                          <a:ea typeface="IBM Plex Sans" pitchFamily="34" charset="-122"/>
                          <a:cs typeface="IBM Plex Sans" pitchFamily="34" charset="-120"/>
                        </a:rPr>
                        <a:t>AccessDenied on upload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4202B"/>
                          </a:solidFill>
                          <a:latin typeface="IBM Plex Sans" pitchFamily="34" charset="0"/>
                          <a:ea typeface="IBM Plex Sans" pitchFamily="34" charset="-122"/>
                          <a:cs typeface="IBM Plex Sans" pitchFamily="34" charset="-120"/>
                        </a:rPr>
                        <a:t>IAM resource path does not match the uploads/ key prefix</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202B"/>
                          </a:solidFill>
                          <a:latin typeface="IBM Plex Sans" pitchFamily="34" charset="0"/>
                          <a:ea typeface="IBM Plex Sans" pitchFamily="34" charset="-122"/>
                          <a:cs typeface="IBM Plex Sans" pitchFamily="34" charset="-120"/>
                        </a:rPr>
                        <a:t>Upload works, download says "File is not available"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4202B"/>
                          </a:solidFill>
                          <a:latin typeface="IBM Plex Sans" pitchFamily="34" charset="0"/>
                          <a:ea typeface="IBM Plex Sans" pitchFamily="34" charset="-122"/>
                          <a:cs typeface="IBM Plex Sans" pitchFamily="34" charset="-120"/>
                        </a:rPr>
                        <a:t>Missing s3:GetObject permission (needed by HeadObject)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590352">
                <a:tc>
                  <a:txBody>
                    <a:bodyPr/>
                    <a:lstStyle/>
                    <a:p>
                      <a:pPr indent="0" marL="0">
                        <a:lnSpc>
                          <a:spcPts val="1820"/>
                        </a:lnSpc>
                        <a:buNone/>
                      </a:pPr>
                      <a:r>
                        <a:rPr lang="en-US" sz="1300" dirty="0">
                          <a:solidFill>
                            <a:srgbClr val="14202B"/>
                          </a:solidFill>
                          <a:latin typeface="IBM Plex Sans" pitchFamily="34" charset="0"/>
                          <a:ea typeface="IBM Plex Sans" pitchFamily="34" charset="-122"/>
                          <a:cs typeface="IBM Plex Sans" pitchFamily="34" charset="-120"/>
                        </a:rPr>
                        <a:t>Presigned URL has x-amz-checksum parameters and fails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4202B"/>
                          </a:solidFill>
                          <a:latin typeface="IBM Plex Sans" pitchFamily="34" charset="0"/>
                          <a:ea typeface="IBM Plex Sans" pitchFamily="34" charset="-122"/>
                          <a:cs typeface="IBM Plex Sans" pitchFamily="34" charset="-120"/>
                        </a:rPr>
                        <a:t>SDK too new for browser PUT: keep requestChecksumCalculation: 'WHEN_REQUIRED'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5" name="Text 2"/>
          <p:cNvSpPr/>
          <p:nvPr/>
        </p:nvSpPr>
        <p:spPr>
          <a:xfrm>
            <a:off x="812800" y="6238280"/>
            <a:ext cx="34882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TempShare · S3 presigned URLs practicum</a:t>
            </a:r>
            <a:endParaRPr lang="en-US" sz="1200" dirty="0"/>
          </a:p>
        </p:txBody>
      </p:sp>
      <p:sp>
        <p:nvSpPr>
          <p:cNvPr id="6" name="Text 3"/>
          <p:cNvSpPr/>
          <p:nvPr/>
        </p:nvSpPr>
        <p:spPr>
          <a:xfrm>
            <a:off x="11145441" y="62382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20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A35E"/>
                </a:solidFill>
                <a:latin typeface="IBM Plex Sans" pitchFamily="34" charset="0"/>
                <a:ea typeface="IBM Plex Sans" pitchFamily="34" charset="-122"/>
                <a:cs typeface="IBM Plex Sans" pitchFamily="34" charset="-120"/>
              </a:rPr>
              <a:t>PART 6 · SECURITY DISCUSSION</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5F3EE"/>
                </a:solidFill>
                <a:latin typeface="IBM Plex Sans" pitchFamily="34" charset="0"/>
                <a:ea typeface="IBM Plex Sans" pitchFamily="34" charset="-122"/>
                <a:cs typeface="IBM Plex Sans" pitchFamily="34" charset="-120"/>
              </a:rPr>
              <a:t>Answer in your report</a:t>
            </a:r>
            <a:endParaRPr lang="en-US" sz="3200" dirty="0"/>
          </a:p>
        </p:txBody>
      </p:sp>
      <p:sp>
        <p:nvSpPr>
          <p:cNvPr id="4" name="Text 2"/>
          <p:cNvSpPr/>
          <p:nvPr/>
        </p:nvSpPr>
        <p:spPr>
          <a:xfrm>
            <a:off x="812800" y="1906191"/>
            <a:ext cx="3556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0A35E"/>
                </a:solidFill>
                <a:latin typeface="JetBrains Mono" pitchFamily="49" charset="0"/>
                <a:ea typeface="JetBrains Mono" pitchFamily="49" charset="-122"/>
                <a:cs typeface="JetBrains Mono" pitchFamily="49" charset="-120"/>
              </a:rPr>
              <a:t>1</a:t>
            </a:r>
            <a:endParaRPr lang="en-US" sz="1600" dirty="0"/>
          </a:p>
        </p:txBody>
      </p:sp>
      <p:sp>
        <p:nvSpPr>
          <p:cNvPr id="5" name="Text 3"/>
          <p:cNvSpPr/>
          <p:nvPr/>
        </p:nvSpPr>
        <p:spPr>
          <a:xfrm>
            <a:off x="1320800" y="1899841"/>
            <a:ext cx="1036015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5F3EE"/>
                </a:solidFill>
                <a:latin typeface="IBM Plex Sans" pitchFamily="34" charset="0"/>
                <a:ea typeface="IBM Plex Sans" pitchFamily="34" charset="-122"/>
                <a:cs typeface="IBM Plex Sans" pitchFamily="34" charset="-120"/>
              </a:rPr>
              <a:t>An 8-character code from a 32-character alphabet has how many combinations? With 5 attempts per link, how likely is a successful guess?</a:t>
            </a:r>
            <a:endParaRPr lang="en-US" sz="1600" dirty="0"/>
          </a:p>
        </p:txBody>
      </p:sp>
      <p:sp>
        <p:nvSpPr>
          <p:cNvPr id="6" name="Text 4"/>
          <p:cNvSpPr/>
          <p:nvPr/>
        </p:nvSpPr>
        <p:spPr>
          <a:xfrm>
            <a:off x="812800" y="2652911"/>
            <a:ext cx="3556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0A35E"/>
                </a:solidFill>
                <a:latin typeface="JetBrains Mono" pitchFamily="49" charset="0"/>
                <a:ea typeface="JetBrains Mono" pitchFamily="49" charset="-122"/>
                <a:cs typeface="JetBrains Mono" pitchFamily="49" charset="-120"/>
              </a:rPr>
              <a:t>2</a:t>
            </a:r>
            <a:endParaRPr lang="en-US" sz="1600" dirty="0"/>
          </a:p>
        </p:txBody>
      </p:sp>
      <p:sp>
        <p:nvSpPr>
          <p:cNvPr id="7" name="Text 5"/>
          <p:cNvSpPr/>
          <p:nvPr/>
        </p:nvSpPr>
        <p:spPr>
          <a:xfrm>
            <a:off x="1320800" y="2646561"/>
            <a:ext cx="1036015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5F3EE"/>
                </a:solidFill>
                <a:latin typeface="IBM Plex Sans" pitchFamily="34" charset="0"/>
                <a:ea typeface="IBM Plex Sans" pitchFamily="34" charset="-122"/>
                <a:cs typeface="IBM Plex Sans" pitchFamily="34" charset="-120"/>
              </a:rPr>
              <a:t>Why should the link and the code travel through different channels?</a:t>
            </a:r>
            <a:endParaRPr lang="en-US" sz="1600" dirty="0"/>
          </a:p>
        </p:txBody>
      </p:sp>
      <p:sp>
        <p:nvSpPr>
          <p:cNvPr id="8" name="Text 6"/>
          <p:cNvSpPr/>
          <p:nvPr/>
        </p:nvSpPr>
        <p:spPr>
          <a:xfrm>
            <a:off x="812800" y="3121521"/>
            <a:ext cx="3556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0A35E"/>
                </a:solidFill>
                <a:latin typeface="JetBrains Mono" pitchFamily="49" charset="0"/>
                <a:ea typeface="JetBrains Mono" pitchFamily="49" charset="-122"/>
                <a:cs typeface="JetBrains Mono" pitchFamily="49" charset="-120"/>
              </a:rPr>
              <a:t>3</a:t>
            </a:r>
            <a:endParaRPr lang="en-US" sz="1600" dirty="0"/>
          </a:p>
        </p:txBody>
      </p:sp>
      <p:sp>
        <p:nvSpPr>
          <p:cNvPr id="9" name="Text 7"/>
          <p:cNvSpPr/>
          <p:nvPr/>
        </p:nvSpPr>
        <p:spPr>
          <a:xfrm>
            <a:off x="1320800" y="3115171"/>
            <a:ext cx="1036015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5F3EE"/>
                </a:solidFill>
                <a:latin typeface="IBM Plex Sans" pitchFamily="34" charset="0"/>
                <a:ea typeface="IBM Plex Sans" pitchFamily="34" charset="-122"/>
                <a:cs typeface="IBM Plex Sans" pitchFamily="34" charset="-120"/>
              </a:rPr>
              <a:t>/api/uploads is public. What abuse is possible, and which controls would you add: authentication, rate limiting, a type allowlist, malware scanning?</a:t>
            </a:r>
            <a:endParaRPr lang="en-US" sz="1600" dirty="0"/>
          </a:p>
        </p:txBody>
      </p:sp>
      <p:sp>
        <p:nvSpPr>
          <p:cNvPr id="10" name="Text 8"/>
          <p:cNvSpPr/>
          <p:nvPr/>
        </p:nvSpPr>
        <p:spPr>
          <a:xfrm>
            <a:off x="812800" y="3868241"/>
            <a:ext cx="3556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0A35E"/>
                </a:solidFill>
                <a:latin typeface="JetBrains Mono" pitchFamily="49" charset="0"/>
                <a:ea typeface="JetBrains Mono" pitchFamily="49" charset="-122"/>
                <a:cs typeface="JetBrains Mono" pitchFamily="49" charset="-120"/>
              </a:rPr>
              <a:t>4</a:t>
            </a:r>
            <a:endParaRPr lang="en-US" sz="1600" dirty="0"/>
          </a:p>
        </p:txBody>
      </p:sp>
      <p:sp>
        <p:nvSpPr>
          <p:cNvPr id="11" name="Text 9"/>
          <p:cNvSpPr/>
          <p:nvPr/>
        </p:nvSpPr>
        <p:spPr>
          <a:xfrm>
            <a:off x="1320800" y="3861891"/>
            <a:ext cx="1036015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5F3EE"/>
                </a:solidFill>
                <a:latin typeface="IBM Plex Sans" pitchFamily="34" charset="0"/>
                <a:ea typeface="IBM Plex Sans" pitchFamily="34" charset="-122"/>
                <a:cs typeface="IBM Plex Sans" pitchFamily="34" charset="-120"/>
              </a:rPr>
              <a:t>A recipient can forward the presigned GET URL during its 60 seconds. Is that acceptable here? When would it not be?</a:t>
            </a:r>
            <a:endParaRPr lang="en-US" sz="1600" dirty="0"/>
          </a:p>
        </p:txBody>
      </p:sp>
      <p:sp>
        <p:nvSpPr>
          <p:cNvPr id="12" name="Text 10"/>
          <p:cNvSpPr/>
          <p:nvPr/>
        </p:nvSpPr>
        <p:spPr>
          <a:xfrm>
            <a:off x="812800" y="4614962"/>
            <a:ext cx="3556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0A35E"/>
                </a:solidFill>
                <a:latin typeface="JetBrains Mono" pitchFamily="49" charset="0"/>
                <a:ea typeface="JetBrains Mono" pitchFamily="49" charset="-122"/>
                <a:cs typeface="JetBrains Mono" pitchFamily="49" charset="-120"/>
              </a:rPr>
              <a:t>5</a:t>
            </a:r>
            <a:endParaRPr lang="en-US" sz="1600" dirty="0"/>
          </a:p>
        </p:txBody>
      </p:sp>
      <p:sp>
        <p:nvSpPr>
          <p:cNvPr id="13" name="Text 11"/>
          <p:cNvSpPr/>
          <p:nvPr/>
        </p:nvSpPr>
        <p:spPr>
          <a:xfrm>
            <a:off x="1320800" y="4608612"/>
            <a:ext cx="1036015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5F3EE"/>
                </a:solidFill>
                <a:latin typeface="IBM Plex Sans" pitchFamily="34" charset="0"/>
                <a:ea typeface="IBM Plex Sans" pitchFamily="34" charset="-122"/>
                <a:cs typeface="IBM Plex Sans" pitchFamily="34" charset="-120"/>
              </a:rPr>
              <a:t>Why does the lifecycle rule alone not satisfy "files must be inaccessible after exactly 24 hours"?</a:t>
            </a:r>
            <a:endParaRPr lang="en-US" sz="1600" dirty="0"/>
          </a:p>
        </p:txBody>
      </p:sp>
      <p:sp>
        <p:nvSpPr>
          <p:cNvPr id="14" name="Text 12"/>
          <p:cNvSpPr/>
          <p:nvPr/>
        </p:nvSpPr>
        <p:spPr>
          <a:xfrm>
            <a:off x="812800" y="6238280"/>
            <a:ext cx="34882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BAA"/>
                </a:solidFill>
                <a:latin typeface="IBM Plex Sans" pitchFamily="34" charset="0"/>
                <a:ea typeface="IBM Plex Sans" pitchFamily="34" charset="-122"/>
                <a:cs typeface="IBM Plex Sans" pitchFamily="34" charset="-120"/>
              </a:rPr>
              <a:t>TempShare · S3 presigned URLs practicum</a:t>
            </a:r>
            <a:endParaRPr lang="en-US" sz="1200" dirty="0"/>
          </a:p>
        </p:txBody>
      </p:sp>
      <p:sp>
        <p:nvSpPr>
          <p:cNvPr id="15" name="Text 13"/>
          <p:cNvSpPr/>
          <p:nvPr/>
        </p:nvSpPr>
        <p:spPr>
          <a:xfrm>
            <a:off x="11145441" y="62382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BAA"/>
                </a:solidFill>
                <a:latin typeface="IBM Plex Sans" pitchFamily="34" charset="0"/>
                <a:ea typeface="IBM Plex Sans" pitchFamily="34" charset="-122"/>
                <a:cs typeface="IBM Plex Sans"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F14"/>
                </a:solidFill>
                <a:latin typeface="IBM Plex Sans" pitchFamily="34" charset="0"/>
                <a:ea typeface="IBM Plex Sans" pitchFamily="34" charset="-122"/>
                <a:cs typeface="IBM Plex Sans" pitchFamily="34" charset="-120"/>
              </a:rPr>
              <a:t>8 · EXERCISES</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IBM Plex Sans" pitchFamily="34" charset="0"/>
                <a:ea typeface="IBM Plex Sans" pitchFamily="34" charset="-122"/>
                <a:cs typeface="IBM Plex Sans" pitchFamily="34" charset="-120"/>
              </a:rPr>
              <a:t>Take it further</a:t>
            </a:r>
            <a:endParaRPr lang="en-US" sz="3200" dirty="0"/>
          </a:p>
        </p:txBody>
      </p:sp>
      <p:sp>
        <p:nvSpPr>
          <p:cNvPr id="4" name="Shape 2"/>
          <p:cNvSpPr/>
          <p:nvPr/>
        </p:nvSpPr>
        <p:spPr>
          <a:xfrm>
            <a:off x="815975" y="1852216"/>
            <a:ext cx="5200650" cy="1850033"/>
          </a:xfrm>
          <a:prstGeom prst="roundRect">
            <a:avLst>
              <a:gd name="adj" fmla="val 5320"/>
            </a:avLst>
          </a:prstGeom>
          <a:solidFill>
            <a:srgbClr val="FFFDF8"/>
          </a:solidFill>
          <a:ln w="6350">
            <a:solidFill>
              <a:srgbClr val="DDD8CC"/>
            </a:solidFill>
            <a:prstDash val="solid"/>
          </a:ln>
        </p:spPr>
      </p:sp>
      <p:sp>
        <p:nvSpPr>
          <p:cNvPr id="5" name="Text 3"/>
          <p:cNvSpPr/>
          <p:nvPr/>
        </p:nvSpPr>
        <p:spPr>
          <a:xfrm>
            <a:off x="1022350" y="2083991"/>
            <a:ext cx="118038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F14"/>
                </a:solidFill>
                <a:latin typeface="IBM Plex Sans" pitchFamily="34" charset="0"/>
                <a:ea typeface="IBM Plex Sans" pitchFamily="34" charset="-122"/>
                <a:cs typeface="IBM Plex Sans" pitchFamily="34" charset="-120"/>
              </a:rPr>
              <a:t>EXERCISE 1</a:t>
            </a:r>
            <a:endParaRPr lang="en-US" sz="1200" dirty="0"/>
          </a:p>
        </p:txBody>
      </p:sp>
      <p:sp>
        <p:nvSpPr>
          <p:cNvPr id="6" name="Text 4"/>
          <p:cNvSpPr/>
          <p:nvPr/>
        </p:nvSpPr>
        <p:spPr>
          <a:xfrm>
            <a:off x="4964509" y="2058591"/>
            <a:ext cx="845741" cy="264120"/>
          </a:xfrm>
          <a:custGeom>
            <a:avLst/>
            <a:gdLst/>
            <a:ahLst/>
            <a:cxnLst/>
            <a:rect l="l" t="t" r="r" b="b"/>
            <a:pathLst>
              <a:path w="845741" h="264120">
                <a:moveTo>
                  <a:pt x="132060" y="0"/>
                </a:moveTo>
                <a:lnTo>
                  <a:pt x="713680" y="0"/>
                </a:lnTo>
                <a:arcTo hR="132060" wR="132060" stAng="16200000" swAng="5400000"/>
                <a:lnTo>
                  <a:pt x="845741" y="132060"/>
                </a:lnTo>
                <a:arcTo hR="132060" wR="132060" stAng="0" swAng="5400000"/>
                <a:lnTo>
                  <a:pt x="132060" y="264120"/>
                </a:lnTo>
                <a:arcTo hR="132060" wR="132060" stAng="5400000" swAng="5400000"/>
                <a:lnTo>
                  <a:pt x="0" y="132060"/>
                </a:lnTo>
                <a:arcTo hR="132060" wR="132060" stAng="10800000" swAng="5400000"/>
                <a:close/>
              </a:path>
            </a:pathLst>
          </a:custGeom>
          <a:solidFill>
            <a:srgbClr val="14202B"/>
          </a:solidFill>
          <a:ln/>
        </p:spPr>
        <p:txBody>
          <a:bodyPr wrap="none" lIns="0" tIns="0" rIns="0" bIns="0" rtlCol="0" anchor="ctr">
            <a:normAutofit/>
          </a:bodyPr>
          <a:lstStyle/>
          <a:p>
            <a:pPr algn="ctr" indent="0" marL="0">
              <a:lnSpc>
                <a:spcPts val="1680"/>
              </a:lnSpc>
              <a:buNone/>
            </a:pPr>
            <a:r>
              <a:rPr lang="en-US" sz="1200" b="1" dirty="0">
                <a:solidFill>
                  <a:srgbClr val="F5F3EE"/>
                </a:solidFill>
                <a:latin typeface="IBM Plex Sans" pitchFamily="34" charset="0"/>
                <a:ea typeface="IBM Plex Sans" pitchFamily="34" charset="-122"/>
                <a:cs typeface="IBM Plex Sans" pitchFamily="34" charset="-120"/>
              </a:rPr>
              <a:t>Required</a:t>
            </a:r>
            <a:endParaRPr lang="en-US" sz="1200" dirty="0"/>
          </a:p>
        </p:txBody>
      </p:sp>
      <p:sp>
        <p:nvSpPr>
          <p:cNvPr id="7" name="Text 5"/>
          <p:cNvSpPr/>
          <p:nvPr/>
        </p:nvSpPr>
        <p:spPr>
          <a:xfrm>
            <a:off x="1022350" y="2398911"/>
            <a:ext cx="493153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B"/>
                </a:solidFill>
                <a:latin typeface="IBM Plex Sans" pitchFamily="34" charset="0"/>
                <a:ea typeface="IBM Plex Sans" pitchFamily="34" charset="-122"/>
                <a:cs typeface="IBM Plex Sans" pitchFamily="34" charset="-120"/>
              </a:rPr>
              <a:t>Durable records</a:t>
            </a:r>
            <a:endParaRPr lang="en-US" sz="1800" dirty="0"/>
          </a:p>
        </p:txBody>
      </p:sp>
      <p:sp>
        <p:nvSpPr>
          <p:cNvPr id="8" name="Text 6"/>
          <p:cNvSpPr/>
          <p:nvPr/>
        </p:nvSpPr>
        <p:spPr>
          <a:xfrm>
            <a:off x="1022350" y="2749352"/>
            <a:ext cx="4931537"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Swap the in-memory Map for DynamoDB with a TTL on expiresAt. Minimal permissions; explain the two-instance case.</a:t>
            </a:r>
            <a:endParaRPr lang="en-US" sz="1400" dirty="0"/>
          </a:p>
        </p:txBody>
      </p:sp>
      <p:sp>
        <p:nvSpPr>
          <p:cNvPr id="9" name="Shape 7"/>
          <p:cNvSpPr/>
          <p:nvPr/>
        </p:nvSpPr>
        <p:spPr>
          <a:xfrm>
            <a:off x="6175375" y="1852216"/>
            <a:ext cx="5200650" cy="1850033"/>
          </a:xfrm>
          <a:prstGeom prst="roundRect">
            <a:avLst>
              <a:gd name="adj" fmla="val 5320"/>
            </a:avLst>
          </a:prstGeom>
          <a:solidFill>
            <a:srgbClr val="FFFDF8"/>
          </a:solidFill>
          <a:ln w="6350">
            <a:solidFill>
              <a:srgbClr val="DDD8CC"/>
            </a:solidFill>
            <a:prstDash val="solid"/>
          </a:ln>
        </p:spPr>
      </p:sp>
      <p:sp>
        <p:nvSpPr>
          <p:cNvPr id="10" name="Text 8"/>
          <p:cNvSpPr/>
          <p:nvPr/>
        </p:nvSpPr>
        <p:spPr>
          <a:xfrm>
            <a:off x="6381750" y="2083991"/>
            <a:ext cx="118038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F14"/>
                </a:solidFill>
                <a:latin typeface="IBM Plex Sans" pitchFamily="34" charset="0"/>
                <a:ea typeface="IBM Plex Sans" pitchFamily="34" charset="-122"/>
                <a:cs typeface="IBM Plex Sans" pitchFamily="34" charset="-120"/>
              </a:rPr>
              <a:t>EXERCISE 2</a:t>
            </a:r>
            <a:endParaRPr lang="en-US" sz="1200" dirty="0"/>
          </a:p>
        </p:txBody>
      </p:sp>
      <p:sp>
        <p:nvSpPr>
          <p:cNvPr id="11" name="Text 9"/>
          <p:cNvSpPr/>
          <p:nvPr/>
        </p:nvSpPr>
        <p:spPr>
          <a:xfrm>
            <a:off x="10323909" y="2058591"/>
            <a:ext cx="845741" cy="264120"/>
          </a:xfrm>
          <a:custGeom>
            <a:avLst/>
            <a:gdLst/>
            <a:ahLst/>
            <a:cxnLst/>
            <a:rect l="l" t="t" r="r" b="b"/>
            <a:pathLst>
              <a:path w="845741" h="264120">
                <a:moveTo>
                  <a:pt x="132060" y="0"/>
                </a:moveTo>
                <a:lnTo>
                  <a:pt x="713680" y="0"/>
                </a:lnTo>
                <a:arcTo hR="132060" wR="132060" stAng="16200000" swAng="5400000"/>
                <a:lnTo>
                  <a:pt x="845741" y="132060"/>
                </a:lnTo>
                <a:arcTo hR="132060" wR="132060" stAng="0" swAng="5400000"/>
                <a:lnTo>
                  <a:pt x="132060" y="264120"/>
                </a:lnTo>
                <a:arcTo hR="132060" wR="132060" stAng="5400000" swAng="5400000"/>
                <a:lnTo>
                  <a:pt x="0" y="132060"/>
                </a:lnTo>
                <a:arcTo hR="132060" wR="132060" stAng="10800000" swAng="5400000"/>
                <a:close/>
              </a:path>
            </a:pathLst>
          </a:custGeom>
          <a:solidFill>
            <a:srgbClr val="14202B"/>
          </a:solidFill>
          <a:ln/>
        </p:spPr>
        <p:txBody>
          <a:bodyPr wrap="none" lIns="0" tIns="0" rIns="0" bIns="0" rtlCol="0" anchor="ctr">
            <a:normAutofit/>
          </a:bodyPr>
          <a:lstStyle/>
          <a:p>
            <a:pPr algn="ctr" indent="0" marL="0">
              <a:lnSpc>
                <a:spcPts val="1680"/>
              </a:lnSpc>
              <a:buNone/>
            </a:pPr>
            <a:r>
              <a:rPr lang="en-US" sz="1200" b="1" dirty="0">
                <a:solidFill>
                  <a:srgbClr val="F5F3EE"/>
                </a:solidFill>
                <a:latin typeface="IBM Plex Sans" pitchFamily="34" charset="0"/>
                <a:ea typeface="IBM Plex Sans" pitchFamily="34" charset="-122"/>
                <a:cs typeface="IBM Plex Sans" pitchFamily="34" charset="-120"/>
              </a:rPr>
              <a:t>Required</a:t>
            </a:r>
            <a:endParaRPr lang="en-US" sz="1200" dirty="0"/>
          </a:p>
        </p:txBody>
      </p:sp>
      <p:sp>
        <p:nvSpPr>
          <p:cNvPr id="12" name="Text 10"/>
          <p:cNvSpPr/>
          <p:nvPr/>
        </p:nvSpPr>
        <p:spPr>
          <a:xfrm>
            <a:off x="6381750" y="2398911"/>
            <a:ext cx="493153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B"/>
                </a:solidFill>
                <a:latin typeface="IBM Plex Sans" pitchFamily="34" charset="0"/>
                <a:ea typeface="IBM Plex Sans" pitchFamily="34" charset="-122"/>
                <a:cs typeface="IBM Plex Sans" pitchFamily="34" charset="-120"/>
              </a:rPr>
              <a:t>Countdown</a:t>
            </a:r>
            <a:endParaRPr lang="en-US" sz="1800" dirty="0"/>
          </a:p>
        </p:txBody>
      </p:sp>
      <p:sp>
        <p:nvSpPr>
          <p:cNvPr id="13" name="Text 11"/>
          <p:cNvSpPr/>
          <p:nvPr/>
        </p:nvSpPr>
        <p:spPr>
          <a:xfrm>
            <a:off x="6381750" y="2749352"/>
            <a:ext cx="493153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GET /api/shares/:id returns the remaining lifetime (no code, no file name); show a countdown on the share page.</a:t>
            </a:r>
            <a:endParaRPr lang="en-US" sz="1400" dirty="0"/>
          </a:p>
        </p:txBody>
      </p:sp>
      <p:sp>
        <p:nvSpPr>
          <p:cNvPr id="14" name="Shape 12"/>
          <p:cNvSpPr/>
          <p:nvPr/>
        </p:nvSpPr>
        <p:spPr>
          <a:xfrm>
            <a:off x="815975" y="3860998"/>
            <a:ext cx="5200650" cy="1850033"/>
          </a:xfrm>
          <a:prstGeom prst="roundRect">
            <a:avLst>
              <a:gd name="adj" fmla="val 5320"/>
            </a:avLst>
          </a:prstGeom>
          <a:solidFill>
            <a:srgbClr val="FFFDF8"/>
          </a:solidFill>
          <a:ln w="6350">
            <a:solidFill>
              <a:srgbClr val="DDD8CC"/>
            </a:solidFill>
            <a:prstDash val="solid"/>
          </a:ln>
        </p:spPr>
      </p:sp>
      <p:sp>
        <p:nvSpPr>
          <p:cNvPr id="15" name="Text 13"/>
          <p:cNvSpPr/>
          <p:nvPr/>
        </p:nvSpPr>
        <p:spPr>
          <a:xfrm>
            <a:off x="1022350" y="4092773"/>
            <a:ext cx="118038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F14"/>
                </a:solidFill>
                <a:latin typeface="IBM Plex Sans" pitchFamily="34" charset="0"/>
                <a:ea typeface="IBM Plex Sans" pitchFamily="34" charset="-122"/>
                <a:cs typeface="IBM Plex Sans" pitchFamily="34" charset="-120"/>
              </a:rPr>
              <a:t>EXERCISE 3</a:t>
            </a:r>
            <a:endParaRPr lang="en-US" sz="1200" dirty="0"/>
          </a:p>
        </p:txBody>
      </p:sp>
      <p:sp>
        <p:nvSpPr>
          <p:cNvPr id="16" name="Text 14"/>
          <p:cNvSpPr/>
          <p:nvPr/>
        </p:nvSpPr>
        <p:spPr>
          <a:xfrm>
            <a:off x="4790579" y="4067373"/>
            <a:ext cx="1019671" cy="264120"/>
          </a:xfrm>
          <a:custGeom>
            <a:avLst/>
            <a:gdLst/>
            <a:ahLst/>
            <a:cxnLst/>
            <a:rect l="l" t="t" r="r" b="b"/>
            <a:pathLst>
              <a:path w="1019671" h="264120">
                <a:moveTo>
                  <a:pt x="132060" y="0"/>
                </a:moveTo>
                <a:lnTo>
                  <a:pt x="887611" y="0"/>
                </a:lnTo>
                <a:arcTo hR="132060" wR="132060" stAng="16200000" swAng="5400000"/>
                <a:lnTo>
                  <a:pt x="1019671" y="132060"/>
                </a:lnTo>
                <a:arcTo hR="132060" wR="132060" stAng="0" swAng="5400000"/>
                <a:lnTo>
                  <a:pt x="132060" y="264120"/>
                </a:lnTo>
                <a:arcTo hR="132060" wR="132060" stAng="5400000" swAng="5400000"/>
                <a:lnTo>
                  <a:pt x="0" y="132060"/>
                </a:lnTo>
                <a:arcTo hR="132060" wR="132060" stAng="10800000" swAng="5400000"/>
                <a:close/>
              </a:path>
            </a:pathLst>
          </a:custGeom>
          <a:solidFill>
            <a:srgbClr val="B04F14"/>
          </a:solidFill>
          <a:ln/>
        </p:spPr>
        <p:txBody>
          <a:bodyPr wrap="none" lIns="0" tIns="0" rIns="0" bIns="0" rtlCol="0" anchor="ctr">
            <a:normAutofit/>
          </a:bodyPr>
          <a:lstStyle/>
          <a:p>
            <a:pPr algn="ctr" indent="0" marL="0">
              <a:lnSpc>
                <a:spcPts val="1680"/>
              </a:lnSpc>
              <a:buNone/>
            </a:pPr>
            <a:r>
              <a:rPr lang="en-US" sz="1200" b="1" dirty="0">
                <a:solidFill>
                  <a:srgbClr val="FFF8F0"/>
                </a:solidFill>
                <a:latin typeface="IBM Plex Sans" pitchFamily="34" charset="0"/>
                <a:ea typeface="IBM Plex Sans" pitchFamily="34" charset="-122"/>
                <a:cs typeface="IBM Plex Sans" pitchFamily="34" charset="-120"/>
              </a:rPr>
              <a:t>Choose one</a:t>
            </a:r>
            <a:endParaRPr lang="en-US" sz="1200" dirty="0"/>
          </a:p>
        </p:txBody>
      </p:sp>
      <p:sp>
        <p:nvSpPr>
          <p:cNvPr id="17" name="Text 15"/>
          <p:cNvSpPr/>
          <p:nvPr/>
        </p:nvSpPr>
        <p:spPr>
          <a:xfrm>
            <a:off x="1022350" y="4407694"/>
            <a:ext cx="493153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B"/>
                </a:solidFill>
                <a:latin typeface="IBM Plex Sans" pitchFamily="34" charset="0"/>
                <a:ea typeface="IBM Plex Sans" pitchFamily="34" charset="-122"/>
                <a:cs typeface="IBM Plex Sans" pitchFamily="34" charset="-120"/>
              </a:rPr>
              <a:t>Harden it</a:t>
            </a:r>
            <a:endParaRPr lang="en-US" sz="1800" dirty="0"/>
          </a:p>
        </p:txBody>
      </p:sp>
      <p:sp>
        <p:nvSpPr>
          <p:cNvPr id="18" name="Text 16"/>
          <p:cNvSpPr/>
          <p:nvPr/>
        </p:nvSpPr>
        <p:spPr>
          <a:xfrm>
            <a:off x="1022350" y="4758134"/>
            <a:ext cx="4931537"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One-time link after the first download</a:t>
            </a:r>
            <a:endParaRPr lang="en-US" sz="1400" dirty="0"/>
          </a:p>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Type allowlist: PDF, PNG, JPEG, ZIP</a:t>
            </a:r>
            <a:endParaRPr lang="en-US" sz="1400" dirty="0"/>
          </a:p>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Per-IP limit on failed attempts</a:t>
            </a:r>
            <a:endParaRPr lang="en-US" sz="1400" dirty="0"/>
          </a:p>
        </p:txBody>
      </p:sp>
      <p:sp>
        <p:nvSpPr>
          <p:cNvPr id="19" name="Shape 17"/>
          <p:cNvSpPr/>
          <p:nvPr/>
        </p:nvSpPr>
        <p:spPr>
          <a:xfrm>
            <a:off x="6175375" y="3860998"/>
            <a:ext cx="5200650" cy="1850033"/>
          </a:xfrm>
          <a:prstGeom prst="roundRect">
            <a:avLst>
              <a:gd name="adj" fmla="val 5320"/>
            </a:avLst>
          </a:prstGeom>
          <a:solidFill>
            <a:srgbClr val="FFFDF8"/>
          </a:solidFill>
          <a:ln w="6350">
            <a:solidFill>
              <a:srgbClr val="DDD8CC"/>
            </a:solidFill>
            <a:prstDash val="solid"/>
          </a:ln>
        </p:spPr>
      </p:sp>
      <p:sp>
        <p:nvSpPr>
          <p:cNvPr id="20" name="Text 18"/>
          <p:cNvSpPr/>
          <p:nvPr/>
        </p:nvSpPr>
        <p:spPr>
          <a:xfrm>
            <a:off x="6381750" y="4092773"/>
            <a:ext cx="118038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F14"/>
                </a:solidFill>
                <a:latin typeface="IBM Plex Sans" pitchFamily="34" charset="0"/>
                <a:ea typeface="IBM Plex Sans" pitchFamily="34" charset="-122"/>
                <a:cs typeface="IBM Plex Sans" pitchFamily="34" charset="-120"/>
              </a:rPr>
              <a:t>EXERCISE 4</a:t>
            </a:r>
            <a:endParaRPr lang="en-US" sz="1200" dirty="0"/>
          </a:p>
        </p:txBody>
      </p:sp>
      <p:sp>
        <p:nvSpPr>
          <p:cNvPr id="21" name="Text 19"/>
          <p:cNvSpPr/>
          <p:nvPr/>
        </p:nvSpPr>
        <p:spPr>
          <a:xfrm>
            <a:off x="10524430" y="4067373"/>
            <a:ext cx="645220" cy="264120"/>
          </a:xfrm>
          <a:custGeom>
            <a:avLst/>
            <a:gdLst/>
            <a:ahLst/>
            <a:cxnLst/>
            <a:rect l="l" t="t" r="r" b="b"/>
            <a:pathLst>
              <a:path w="645220" h="264120">
                <a:moveTo>
                  <a:pt x="132060" y="0"/>
                </a:moveTo>
                <a:lnTo>
                  <a:pt x="513159" y="0"/>
                </a:lnTo>
                <a:arcTo hR="132060" wR="132060" stAng="16200000" swAng="5400000"/>
                <a:lnTo>
                  <a:pt x="645220" y="132060"/>
                </a:lnTo>
                <a:arcTo hR="132060" wR="132060" stAng="0" swAng="5400000"/>
                <a:lnTo>
                  <a:pt x="132060" y="264120"/>
                </a:lnTo>
                <a:arcTo hR="132060" wR="132060" stAng="5400000" swAng="5400000"/>
                <a:lnTo>
                  <a:pt x="0" y="132060"/>
                </a:lnTo>
                <a:arcTo hR="132060" wR="132060" stAng="10800000" swAng="5400000"/>
                <a:close/>
              </a:path>
            </a:pathLst>
          </a:custGeom>
          <a:solidFill>
            <a:srgbClr val="ECE7DD"/>
          </a:solidFill>
          <a:ln/>
        </p:spPr>
        <p:txBody>
          <a:bodyPr wrap="none" lIns="0" tIns="0" rIns="0" bIns="0" rtlCol="0" anchor="ctr">
            <a:normAutofit/>
          </a:bodyPr>
          <a:lstStyle/>
          <a:p>
            <a:pPr algn="ctr" indent="0" marL="0">
              <a:lnSpc>
                <a:spcPts val="1680"/>
              </a:lnSpc>
              <a:buNone/>
            </a:pPr>
            <a:r>
              <a:rPr lang="en-US" sz="1200" b="1" dirty="0">
                <a:solidFill>
                  <a:srgbClr val="14202B"/>
                </a:solidFill>
                <a:latin typeface="IBM Plex Sans" pitchFamily="34" charset="0"/>
                <a:ea typeface="IBM Plex Sans" pitchFamily="34" charset="-122"/>
                <a:cs typeface="IBM Plex Sans" pitchFamily="34" charset="-120"/>
              </a:rPr>
              <a:t>Bonus</a:t>
            </a:r>
            <a:endParaRPr lang="en-US" sz="1200" dirty="0"/>
          </a:p>
        </p:txBody>
      </p:sp>
      <p:sp>
        <p:nvSpPr>
          <p:cNvPr id="22" name="Text 20"/>
          <p:cNvSpPr/>
          <p:nvPr/>
        </p:nvSpPr>
        <p:spPr>
          <a:xfrm>
            <a:off x="6381750" y="4407694"/>
            <a:ext cx="493153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B"/>
                </a:solidFill>
                <a:latin typeface="IBM Plex Sans" pitchFamily="34" charset="0"/>
                <a:ea typeface="IBM Plex Sans" pitchFamily="34" charset="-122"/>
                <a:cs typeface="IBM Plex Sans" pitchFamily="34" charset="-120"/>
              </a:rPr>
              <a:t>Deploy with an IAM role</a:t>
            </a:r>
            <a:endParaRPr lang="en-US" sz="1800" dirty="0"/>
          </a:p>
        </p:txBody>
      </p:sp>
      <p:sp>
        <p:nvSpPr>
          <p:cNvPr id="23" name="Text 21"/>
          <p:cNvSpPr/>
          <p:nvPr/>
        </p:nvSpPr>
        <p:spPr>
          <a:xfrm>
            <a:off x="6381750" y="4758134"/>
            <a:ext cx="493153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Run on EC2, ECS or Lambda with an IAM role and remove the access keys from the project completely.</a:t>
            </a:r>
            <a:endParaRPr lang="en-US" sz="1400" dirty="0"/>
          </a:p>
        </p:txBody>
      </p:sp>
      <p:sp>
        <p:nvSpPr>
          <p:cNvPr id="24" name="Text 22"/>
          <p:cNvSpPr/>
          <p:nvPr/>
        </p:nvSpPr>
        <p:spPr>
          <a:xfrm>
            <a:off x="812800" y="6238280"/>
            <a:ext cx="34882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TempShare · S3 presigned URLs practicum</a:t>
            </a:r>
            <a:endParaRPr lang="en-US" sz="1200" dirty="0"/>
          </a:p>
        </p:txBody>
      </p:sp>
      <p:sp>
        <p:nvSpPr>
          <p:cNvPr id="25" name="Text 23"/>
          <p:cNvSpPr/>
          <p:nvPr/>
        </p:nvSpPr>
        <p:spPr>
          <a:xfrm>
            <a:off x="11145441" y="62382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F14"/>
                </a:solidFill>
                <a:latin typeface="IBM Plex Sans" pitchFamily="34" charset="0"/>
                <a:ea typeface="IBM Plex Sans" pitchFamily="34" charset="-122"/>
                <a:cs typeface="IBM Plex Sans" pitchFamily="34" charset="-120"/>
              </a:rPr>
              <a:t>8.1 GRADING · 9 CLEAN-UP</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IBM Plex Sans" pitchFamily="34" charset="0"/>
                <a:ea typeface="IBM Plex Sans" pitchFamily="34" charset="-122"/>
                <a:cs typeface="IBM Plex Sans" pitchFamily="34" charset="-120"/>
              </a:rPr>
              <a:t>Grading and clean-up</a:t>
            </a:r>
            <a:endParaRPr lang="en-US" sz="3200" dirty="0"/>
          </a:p>
        </p:txBody>
      </p:sp>
      <p:sp>
        <p:nvSpPr>
          <p:cNvPr id="4" name="Shape 2"/>
          <p:cNvSpPr/>
          <p:nvPr/>
        </p:nvSpPr>
        <p:spPr>
          <a:xfrm>
            <a:off x="812800" y="1903016"/>
            <a:ext cx="6197600" cy="0"/>
          </a:xfrm>
          <a:prstGeom prst="line">
            <a:avLst/>
          </a:prstGeom>
          <a:noFill/>
          <a:ln w="6350">
            <a:solidFill>
              <a:srgbClr val="CFC9BC"/>
            </a:solidFill>
            <a:prstDash val="solid"/>
          </a:ln>
        </p:spPr>
      </p:sp>
      <p:sp>
        <p:nvSpPr>
          <p:cNvPr id="5" name="Text 3"/>
          <p:cNvSpPr/>
          <p:nvPr/>
        </p:nvSpPr>
        <p:spPr>
          <a:xfrm>
            <a:off x="812800" y="2020491"/>
            <a:ext cx="812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04F14"/>
                </a:solidFill>
                <a:latin typeface="JetBrains Mono" pitchFamily="49" charset="0"/>
                <a:ea typeface="JetBrains Mono" pitchFamily="49" charset="-122"/>
                <a:cs typeface="JetBrains Mono" pitchFamily="49" charset="-120"/>
              </a:rPr>
              <a:t>30%</a:t>
            </a:r>
            <a:endParaRPr lang="en-US" sz="2000" dirty="0"/>
          </a:p>
        </p:txBody>
      </p:sp>
      <p:sp>
        <p:nvSpPr>
          <p:cNvPr id="6" name="Text 4"/>
          <p:cNvSpPr/>
          <p:nvPr/>
        </p:nvSpPr>
        <p:spPr>
          <a:xfrm>
            <a:off x="1727200" y="2096691"/>
            <a:ext cx="544169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Working upload and download, all Part 5 tests passing</a:t>
            </a:r>
            <a:endParaRPr lang="en-US" sz="1400" dirty="0"/>
          </a:p>
        </p:txBody>
      </p:sp>
      <p:sp>
        <p:nvSpPr>
          <p:cNvPr id="7" name="Shape 5"/>
          <p:cNvSpPr/>
          <p:nvPr/>
        </p:nvSpPr>
        <p:spPr>
          <a:xfrm>
            <a:off x="812800" y="2493566"/>
            <a:ext cx="6197600" cy="0"/>
          </a:xfrm>
          <a:prstGeom prst="line">
            <a:avLst/>
          </a:prstGeom>
          <a:noFill/>
          <a:ln w="6350">
            <a:solidFill>
              <a:srgbClr val="CFC9BC"/>
            </a:solidFill>
            <a:prstDash val="solid"/>
          </a:ln>
        </p:spPr>
      </p:sp>
      <p:sp>
        <p:nvSpPr>
          <p:cNvPr id="8" name="Text 6"/>
          <p:cNvSpPr/>
          <p:nvPr/>
        </p:nvSpPr>
        <p:spPr>
          <a:xfrm>
            <a:off x="812800" y="2611041"/>
            <a:ext cx="812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04F14"/>
                </a:solidFill>
                <a:latin typeface="JetBrains Mono" pitchFamily="49" charset="0"/>
                <a:ea typeface="JetBrains Mono" pitchFamily="49" charset="-122"/>
                <a:cs typeface="JetBrains Mono" pitchFamily="49" charset="-120"/>
              </a:rPr>
              <a:t>25%</a:t>
            </a:r>
            <a:endParaRPr lang="en-US" sz="2000" dirty="0"/>
          </a:p>
        </p:txBody>
      </p:sp>
      <p:sp>
        <p:nvSpPr>
          <p:cNvPr id="9" name="Text 7"/>
          <p:cNvSpPr/>
          <p:nvPr/>
        </p:nvSpPr>
        <p:spPr>
          <a:xfrm>
            <a:off x="1727200" y="2687241"/>
            <a:ext cx="544169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AWS setup: private bucket, CORS, lifecycle rule, least-privilege policy</a:t>
            </a:r>
            <a:endParaRPr lang="en-US" sz="1400" dirty="0"/>
          </a:p>
        </p:txBody>
      </p:sp>
      <p:sp>
        <p:nvSpPr>
          <p:cNvPr id="10" name="Shape 8"/>
          <p:cNvSpPr/>
          <p:nvPr/>
        </p:nvSpPr>
        <p:spPr>
          <a:xfrm>
            <a:off x="812800" y="3302397"/>
            <a:ext cx="6197600" cy="0"/>
          </a:xfrm>
          <a:prstGeom prst="line">
            <a:avLst/>
          </a:prstGeom>
          <a:noFill/>
          <a:ln w="6350">
            <a:solidFill>
              <a:srgbClr val="CFC9BC"/>
            </a:solidFill>
            <a:prstDash val="solid"/>
          </a:ln>
        </p:spPr>
      </p:sp>
      <p:sp>
        <p:nvSpPr>
          <p:cNvPr id="11" name="Text 9"/>
          <p:cNvSpPr/>
          <p:nvPr/>
        </p:nvSpPr>
        <p:spPr>
          <a:xfrm>
            <a:off x="812800" y="3419872"/>
            <a:ext cx="812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04F14"/>
                </a:solidFill>
                <a:latin typeface="JetBrains Mono" pitchFamily="49" charset="0"/>
                <a:ea typeface="JetBrains Mono" pitchFamily="49" charset="-122"/>
                <a:cs typeface="JetBrains Mono" pitchFamily="49" charset="-120"/>
              </a:rPr>
              <a:t>25%</a:t>
            </a:r>
            <a:endParaRPr lang="en-US" sz="2000" dirty="0"/>
          </a:p>
        </p:txBody>
      </p:sp>
      <p:sp>
        <p:nvSpPr>
          <p:cNvPr id="12" name="Text 10"/>
          <p:cNvSpPr/>
          <p:nvPr/>
        </p:nvSpPr>
        <p:spPr>
          <a:xfrm>
            <a:off x="1727200" y="3496072"/>
            <a:ext cx="544169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Exercises 1 to 3</a:t>
            </a:r>
            <a:endParaRPr lang="en-US" sz="1400" dirty="0"/>
          </a:p>
        </p:txBody>
      </p:sp>
      <p:sp>
        <p:nvSpPr>
          <p:cNvPr id="13" name="Shape 11"/>
          <p:cNvSpPr/>
          <p:nvPr/>
        </p:nvSpPr>
        <p:spPr>
          <a:xfrm>
            <a:off x="812800" y="3892947"/>
            <a:ext cx="6197600" cy="0"/>
          </a:xfrm>
          <a:prstGeom prst="line">
            <a:avLst/>
          </a:prstGeom>
          <a:noFill/>
          <a:ln w="6350">
            <a:solidFill>
              <a:srgbClr val="CFC9BC"/>
            </a:solidFill>
            <a:prstDash val="solid"/>
          </a:ln>
        </p:spPr>
      </p:sp>
      <p:sp>
        <p:nvSpPr>
          <p:cNvPr id="14" name="Text 12"/>
          <p:cNvSpPr/>
          <p:nvPr/>
        </p:nvSpPr>
        <p:spPr>
          <a:xfrm>
            <a:off x="812800" y="4010422"/>
            <a:ext cx="812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04F14"/>
                </a:solidFill>
                <a:latin typeface="JetBrains Mono" pitchFamily="49" charset="0"/>
                <a:ea typeface="JetBrains Mono" pitchFamily="49" charset="-122"/>
                <a:cs typeface="JetBrains Mono" pitchFamily="49" charset="-120"/>
              </a:rPr>
              <a:t>15%</a:t>
            </a:r>
            <a:endParaRPr lang="en-US" sz="2000" dirty="0"/>
          </a:p>
        </p:txBody>
      </p:sp>
      <p:sp>
        <p:nvSpPr>
          <p:cNvPr id="15" name="Text 13"/>
          <p:cNvSpPr/>
          <p:nvPr/>
        </p:nvSpPr>
        <p:spPr>
          <a:xfrm>
            <a:off x="1727200" y="4086622"/>
            <a:ext cx="544169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Security discussion (Part 6)</a:t>
            </a:r>
            <a:endParaRPr lang="en-US" sz="1400" dirty="0"/>
          </a:p>
        </p:txBody>
      </p:sp>
      <p:sp>
        <p:nvSpPr>
          <p:cNvPr id="16" name="Shape 14"/>
          <p:cNvSpPr/>
          <p:nvPr/>
        </p:nvSpPr>
        <p:spPr>
          <a:xfrm>
            <a:off x="812800" y="4483497"/>
            <a:ext cx="6197600" cy="0"/>
          </a:xfrm>
          <a:prstGeom prst="line">
            <a:avLst/>
          </a:prstGeom>
          <a:noFill/>
          <a:ln w="6350">
            <a:solidFill>
              <a:srgbClr val="CFC9BC"/>
            </a:solidFill>
            <a:prstDash val="solid"/>
          </a:ln>
        </p:spPr>
      </p:sp>
      <p:sp>
        <p:nvSpPr>
          <p:cNvPr id="17" name="Shape 15"/>
          <p:cNvSpPr/>
          <p:nvPr/>
        </p:nvSpPr>
        <p:spPr>
          <a:xfrm>
            <a:off x="812800" y="5074047"/>
            <a:ext cx="6197600" cy="0"/>
          </a:xfrm>
          <a:prstGeom prst="line">
            <a:avLst/>
          </a:prstGeom>
          <a:noFill/>
          <a:ln w="6350">
            <a:solidFill>
              <a:srgbClr val="CFC9BC"/>
            </a:solidFill>
            <a:prstDash val="solid"/>
          </a:ln>
        </p:spPr>
      </p:sp>
      <p:sp>
        <p:nvSpPr>
          <p:cNvPr id="18" name="Text 16"/>
          <p:cNvSpPr/>
          <p:nvPr/>
        </p:nvSpPr>
        <p:spPr>
          <a:xfrm>
            <a:off x="812800" y="4600972"/>
            <a:ext cx="812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04F14"/>
                </a:solidFill>
                <a:latin typeface="JetBrains Mono" pitchFamily="49" charset="0"/>
                <a:ea typeface="JetBrains Mono" pitchFamily="49" charset="-122"/>
                <a:cs typeface="JetBrains Mono" pitchFamily="49" charset="-120"/>
              </a:rPr>
              <a:t>5%</a:t>
            </a:r>
            <a:endParaRPr lang="en-US" sz="2000" dirty="0"/>
          </a:p>
        </p:txBody>
      </p:sp>
      <p:sp>
        <p:nvSpPr>
          <p:cNvPr id="19" name="Text 17"/>
          <p:cNvSpPr/>
          <p:nvPr/>
        </p:nvSpPr>
        <p:spPr>
          <a:xfrm>
            <a:off x="1727200" y="4677172"/>
            <a:ext cx="544169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Code quality, no leaked credentials in the repository</a:t>
            </a:r>
            <a:endParaRPr lang="en-US" sz="1400" dirty="0"/>
          </a:p>
        </p:txBody>
      </p:sp>
      <p:sp>
        <p:nvSpPr>
          <p:cNvPr id="20" name="Shape 18"/>
          <p:cNvSpPr/>
          <p:nvPr/>
        </p:nvSpPr>
        <p:spPr>
          <a:xfrm>
            <a:off x="7315200" y="1899841"/>
            <a:ext cx="4064000" cy="2742605"/>
          </a:xfrm>
          <a:prstGeom prst="roundRect">
            <a:avLst>
              <a:gd name="adj" fmla="val 3705"/>
            </a:avLst>
          </a:prstGeom>
          <a:solidFill>
            <a:srgbClr val="14202B"/>
          </a:solidFill>
          <a:ln/>
        </p:spPr>
      </p:sp>
      <p:sp>
        <p:nvSpPr>
          <p:cNvPr id="21" name="Text 19"/>
          <p:cNvSpPr/>
          <p:nvPr/>
        </p:nvSpPr>
        <p:spPr>
          <a:xfrm>
            <a:off x="7569200" y="2153841"/>
            <a:ext cx="366268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3EE"/>
                </a:solidFill>
                <a:latin typeface="IBM Plex Sans" pitchFamily="34" charset="0"/>
                <a:ea typeface="IBM Plex Sans" pitchFamily="34" charset="-122"/>
                <a:cs typeface="IBM Plex Sans" pitchFamily="34" charset="-120"/>
              </a:rPr>
              <a:t>Clean-up</a:t>
            </a:r>
            <a:endParaRPr lang="en-US" sz="1800" dirty="0"/>
          </a:p>
        </p:txBody>
      </p:sp>
      <p:sp>
        <p:nvSpPr>
          <p:cNvPr id="22" name="Text 20"/>
          <p:cNvSpPr/>
          <p:nvPr/>
        </p:nvSpPr>
        <p:spPr>
          <a:xfrm>
            <a:off x="7569200" y="2555081"/>
            <a:ext cx="36626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4CE"/>
                </a:solidFill>
                <a:latin typeface="IBM Plex Sans" pitchFamily="34" charset="0"/>
                <a:ea typeface="IBM Plex Sans" pitchFamily="34" charset="-122"/>
                <a:cs typeface="IBM Plex Sans" pitchFamily="34" charset="-120"/>
              </a:rPr>
              <a:t>To avoid charges and leftover access:</a:t>
            </a:r>
            <a:endParaRPr lang="en-US" sz="1200" dirty="0"/>
          </a:p>
        </p:txBody>
      </p:sp>
      <p:sp>
        <p:nvSpPr>
          <p:cNvPr id="23" name="Text 21"/>
          <p:cNvSpPr/>
          <p:nvPr/>
        </p:nvSpPr>
        <p:spPr>
          <a:xfrm>
            <a:off x="7626052" y="2895402"/>
            <a:ext cx="3598208" cy="1518444"/>
          </a:xfrm>
          <a:prstGeom prst="rect">
            <a:avLst/>
          </a:prstGeom>
          <a:noFill/>
          <a:ln/>
        </p:spPr>
        <p:txBody>
          <a:bodyPr wrap="square" lIns="0" tIns="0" rIns="0" bIns="0" rtlCol="0" anchor="t">
            <a:normAutofit/>
          </a:bodyPr>
          <a:lstStyle/>
          <a:p>
            <a:pPr algn="l" marL="197148" indent="-197148">
              <a:lnSpc>
                <a:spcPts val="1960"/>
              </a:lnSpc>
              <a:buSzPct val="100000"/>
              <a:buFontTx/>
              <a:buAutoNum type="arabicPeriod" startAt="1"/>
            </a:pPr>
            <a:r>
              <a:rPr lang="en-US" sz="1400" dirty="0">
                <a:solidFill>
                  <a:srgbClr val="F5F3EE"/>
                </a:solidFill>
                <a:latin typeface="IBM Plex Sans" pitchFamily="34" charset="0"/>
                <a:ea typeface="IBM Plex Sans" pitchFamily="34" charset="-122"/>
                <a:cs typeface="IBM Plex Sans" pitchFamily="34" charset="-120"/>
              </a:rPr>
              <a:t>Empty and delete the bucket</a:t>
            </a:r>
            <a:endParaRPr lang="en-US" sz="1400" dirty="0"/>
          </a:p>
          <a:p>
            <a:pPr algn="l" marL="197148" indent="-197148">
              <a:lnSpc>
                <a:spcPts val="1960"/>
              </a:lnSpc>
              <a:buSzPct val="100000"/>
              <a:buFontTx/>
              <a:buAutoNum type="arabicPeriod" startAt="1"/>
            </a:pPr>
            <a:r>
              <a:rPr lang="en-US" sz="1400" dirty="0">
                <a:solidFill>
                  <a:srgbClr val="F5F3EE"/>
                </a:solidFill>
                <a:latin typeface="IBM Plex Sans" pitchFamily="34" charset="0"/>
                <a:ea typeface="IBM Plex Sans" pitchFamily="34" charset="-122"/>
                <a:cs typeface="IBM Plex Sans" pitchFamily="34" charset="-120"/>
              </a:rPr>
              <a:t>Delete the IAM access key, then the user and the policy</a:t>
            </a:r>
            <a:endParaRPr lang="en-US" sz="1400" dirty="0"/>
          </a:p>
          <a:p>
            <a:pPr algn="l" marL="197148" indent="-197148">
              <a:lnSpc>
                <a:spcPts val="1960"/>
              </a:lnSpc>
              <a:buSzPct val="100000"/>
              <a:buFontTx/>
              <a:buAutoNum type="arabicPeriod" startAt="1"/>
            </a:pPr>
            <a:r>
              <a:rPr lang="en-US" sz="1400" dirty="0">
                <a:solidFill>
                  <a:srgbClr val="F5F3EE"/>
                </a:solidFill>
                <a:latin typeface="IBM Plex Sans" pitchFamily="34" charset="0"/>
                <a:ea typeface="IBM Plex Sans" pitchFamily="34" charset="-122"/>
                <a:cs typeface="IBM Plex Sans" pitchFamily="34" charset="-120"/>
              </a:rPr>
              <a:t>Delete any DynamoDB table from Exercise 1</a:t>
            </a:r>
            <a:endParaRPr lang="en-US" sz="1400" dirty="0"/>
          </a:p>
          <a:p>
            <a:pPr algn="l" marL="197148" indent="-197148">
              <a:lnSpc>
                <a:spcPts val="1960"/>
              </a:lnSpc>
              <a:buSzPct val="100000"/>
              <a:buFontTx/>
              <a:buAutoNum type="arabicPeriod" startAt="1"/>
            </a:pPr>
            <a:r>
              <a:rPr lang="en-US" sz="1400" dirty="0">
                <a:solidFill>
                  <a:srgbClr val="F5F3EE"/>
                </a:solidFill>
                <a:latin typeface="IBM Plex Sans" pitchFamily="34" charset="0"/>
                <a:ea typeface="IBM Plex Sans" pitchFamily="34" charset="-122"/>
                <a:cs typeface="IBM Plex Sans" pitchFamily="34" charset="-120"/>
              </a:rPr>
              <a:t>Make sure .env was never committed</a:t>
            </a:r>
            <a:endParaRPr lang="en-US" sz="1400" dirty="0"/>
          </a:p>
        </p:txBody>
      </p:sp>
      <p:sp>
        <p:nvSpPr>
          <p:cNvPr id="24" name="Text 22"/>
          <p:cNvSpPr/>
          <p:nvPr/>
        </p:nvSpPr>
        <p:spPr>
          <a:xfrm>
            <a:off x="812800" y="6238280"/>
            <a:ext cx="34882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TempShare · S3 presigned URLs practicum</a:t>
            </a:r>
            <a:endParaRPr lang="en-US" sz="1200" dirty="0"/>
          </a:p>
        </p:txBody>
      </p:sp>
      <p:sp>
        <p:nvSpPr>
          <p:cNvPr id="25" name="Text 23"/>
          <p:cNvSpPr/>
          <p:nvPr/>
        </p:nvSpPr>
        <p:spPr>
          <a:xfrm>
            <a:off x="11145441" y="62382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21</a:t>
            </a:r>
            <a:endParaRPr lang="en-US" sz="1200" dirty="0"/>
          </a:p>
        </p:txBody>
      </p:sp>
    </p:spTree>
  </p:cSld>
  <p:clrMapOvr>
    <a:masterClrMapping/>
  </p:clrMapOvr>
</p:sld>
</file>

<file path=ppt/theme/theme1.xml><?xml version="1.0" encoding="utf-8"?>
<a:theme xmlns:a="http://schemas.openxmlformats.org/drawingml/2006/main" name="TempShare Practicum: S3 Presigned URLs">
  <a:themeElements>
    <a:clrScheme name="TempShare Practicum: S3 Presigned URLs">
      <a:dk1>
        <a:srgbClr val="14202B"/>
      </a:dk1>
      <a:lt1>
        <a:srgbClr val="F5F3EE"/>
      </a:lt1>
      <a:dk2>
        <a:srgbClr val="4C555C"/>
      </a:dk2>
      <a:lt2>
        <a:srgbClr val="DFDEDB"/>
      </a:lt2>
      <a:accent1>
        <a:srgbClr val="B04F14"/>
      </a:accent1>
      <a:accent2>
        <a:srgbClr val="F0A35E"/>
      </a:accent2>
      <a:accent3>
        <a:srgbClr val="5E6873"/>
      </a:accent3>
      <a:accent4>
        <a:srgbClr val="44505C"/>
      </a:accent4>
      <a:accent5>
        <a:srgbClr val="B9C4CE"/>
      </a:accent5>
      <a:accent6>
        <a:srgbClr val="8A9BAA"/>
      </a:accent6>
      <a:hlink>
        <a:srgbClr val="0563C1"/>
      </a:hlink>
      <a:folHlink>
        <a:srgbClr val="954F72"/>
      </a:folHlink>
    </a:clrScheme>
    <a:fontScheme name="TempShare Practicum: S3 Presigned URLs">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TempShare Practicum: S3 Presigned URLs</dc:title>
  <dc:subject/>
  <dc:creator/>
  <cp:lastModifiedBy/>
  <cp:revision>1</cp:revision>
  <dcterms:created xsi:type="dcterms:W3CDTF">2026-10-08T22:22:21Z</dcterms:created>
  <dcterms:modified xsi:type="dcterms:W3CDTF">2026-10-08T22:22:21Z</dcterms:modified>
</cp:coreProperties>
</file>